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2F7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534AB7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ECBF6"/>
                </a:solidFill>
              </a:rPr>
              <a:t>INGENIERÍA DE SOFTWARE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ECBF6"/>
                </a:solidFill>
              </a:rPr>
              <a:t>Concepto · Clasificación · Entradas/Salidas · Ejemplos aplicados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2560320" cy="36576"/>
          </a:xfrm>
          <a:prstGeom prst="rect">
            <a:avLst/>
          </a:prstGeom>
          <a:solidFill>
            <a:srgbClr val="CECB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D1C7"/>
                </a:solidFill>
              </a:rPr>
              <a:t>Gestión de Procesos Organizacionales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2286000"/>
            <a:ext cx="274320" cy="274320"/>
          </a:xfrm>
          <a:prstGeom prst="ellipse">
            <a:avLst/>
          </a:prstGeom>
          <a:solidFill>
            <a:srgbClr val="534AB7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2286000"/>
            <a:ext cx="274320" cy="274320"/>
          </a:xfrm>
          <a:prstGeom prst="ellipse">
            <a:avLst/>
          </a:prstGeom>
          <a:solidFill>
            <a:srgbClr val="534AB7">
              <a:alpha val="4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2286000"/>
            <a:ext cx="274320" cy="274320"/>
          </a:xfrm>
          <a:prstGeom prst="ellipse">
            <a:avLst/>
          </a:prstGeom>
          <a:solidFill>
            <a:srgbClr val="534AB7">
              <a:alpha val="3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2788920"/>
            <a:ext cx="274320" cy="274320"/>
          </a:xfrm>
          <a:prstGeom prst="ellipse">
            <a:avLst/>
          </a:prstGeom>
          <a:solidFill>
            <a:srgbClr val="534AB7">
              <a:alpha val="2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35240" y="2788920"/>
            <a:ext cx="274320" cy="274320"/>
          </a:xfrm>
          <a:prstGeom prst="ellipse">
            <a:avLst/>
          </a:prstGeom>
          <a:solidFill>
            <a:srgbClr val="534AB7">
              <a:alpha val="1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¿Qué es el Mapa de Procesos?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91440" cy="13258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Definición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078992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Representación gráfica que identifica, clasifica y relaciona todos los procesos de una organización, mostrando sus interacciones y cómo aportan valor al cliente. Es la base para gestionar la empresa como un sistema integrado.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6400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4F0B"/>
                </a:solidFill>
              </a:rPr>
              <a:t>No es un organigrama — muestra el flujo de valor, no jerarquías de mando.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08960"/>
            <a:ext cx="265176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3218688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Visión global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Muestra toda la empresa en una sola vista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1089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108960"/>
            <a:ext cx="265176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3218688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Orientado al cliente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Empieza y termina con las necesidades del cliente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108960"/>
            <a:ext cx="265176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3218688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Base de mejora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Permite detectar ineficiencias y optimizar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Clasificación de Procesos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77240"/>
            <a:ext cx="2743200" cy="82296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" y="777240"/>
            <a:ext cx="274320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804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Estratégicos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</a:rPr>
              <a:t>Orientan el rumbo de la organización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2523744" cy="365760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</a:rPr>
              <a:t>Los define la alta dirección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Planeación estratégica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877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Gestión de calidad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3522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Gobierno corporativo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2826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Innovación y mejora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301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Sostenibilidad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63824" y="77724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3824" y="777240"/>
            <a:ext cx="2743200" cy="8229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63824" y="777240"/>
            <a:ext cx="274320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3300984" y="804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</a:rPr>
              <a:t>Misionales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00984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Generan valor directo al cliente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1737360"/>
            <a:ext cx="2523744" cy="36576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Son el núcleo del negocio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224028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Ventas y comercial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25877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Producción / desarrollo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73552" y="293522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Entrega del servicio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32826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Atención al cliente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73552" y="36301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Posventa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71616" y="77724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4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71616" y="777240"/>
            <a:ext cx="2743200" cy="822960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32" name="Shape 30"/>
          <p:cNvSpPr/>
          <p:nvPr/>
        </p:nvSpPr>
        <p:spPr>
          <a:xfrm>
            <a:off x="6071616" y="777240"/>
            <a:ext cx="2743200" cy="54864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804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3C1D"/>
                </a:solidFill>
              </a:rPr>
              <a:t>De Apoyo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08776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C1D"/>
                </a:solidFill>
              </a:rPr>
              <a:t>Soportan los demás procesos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1737360"/>
            <a:ext cx="2523744" cy="365760"/>
          </a:xfrm>
          <a:prstGeom prst="rect">
            <a:avLst/>
          </a:prstGeom>
          <a:solidFill>
            <a:srgbClr val="FAECE7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C1D"/>
                </a:solidFill>
              </a:rPr>
              <a:t>Esenciales pero no generan valor directo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81344" y="224028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Recursos humanos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25877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Contabilidad y finanzas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81344" y="293522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TI e infraestructura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81344" y="32826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Compras y logística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81344" y="36301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Legal y cumplimiento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Diagrama del Mapa de Procesos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" y="1737360"/>
            <a:ext cx="100584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CLIENTE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" y="21031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Necesidades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Requisitos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2423160"/>
            <a:ext cx="411480" cy="0"/>
          </a:xfrm>
          <a:prstGeom prst="line">
            <a:avLst/>
          </a:prstGeom>
          <a:noFill/>
          <a:ln w="19050">
            <a:solidFill>
              <a:srgbClr val="B5D4F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554480" y="777240"/>
            <a:ext cx="6035040" cy="822960"/>
          </a:xfrm>
          <a:prstGeom prst="rect">
            <a:avLst/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777240"/>
            <a:ext cx="603504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8046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</a:rPr>
              <a:t>Procesos Estratégicos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11556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4AB7"/>
                </a:solidFill>
              </a:rPr>
              <a:t>Planeación  ·  Calidad  ·  Innovación  ·  Gobierno corporativo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54480" y="1691640"/>
            <a:ext cx="6035040" cy="178308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691640"/>
            <a:ext cx="6035040" cy="640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17099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</a:rPr>
              <a:t>Procesos Misionales (Core)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91640" y="2084832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2084832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Ventas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2697480"/>
            <a:ext cx="137160" cy="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54680" y="2084832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084832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Operación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697480"/>
            <a:ext cx="137160" cy="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17720" y="2084832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084832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Entrega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697480"/>
            <a:ext cx="137160" cy="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2084832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084832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Servicio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554480" y="3566160"/>
            <a:ext cx="6035040" cy="822960"/>
          </a:xfrm>
          <a:prstGeom prst="rect">
            <a:avLst/>
          </a:prstGeom>
          <a:solidFill>
            <a:srgbClr val="FAECE7"/>
          </a:solidFill>
          <a:ln w="12700">
            <a:solidFill>
              <a:srgbClr val="F5C4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54480" y="3566160"/>
            <a:ext cx="6035040" cy="6400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0" name="Text 28"/>
          <p:cNvSpPr/>
          <p:nvPr/>
        </p:nvSpPr>
        <p:spPr>
          <a:xfrm>
            <a:off x="1691640" y="35844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C1D"/>
                </a:solidFill>
              </a:rPr>
              <a:t>Procesos de Apoyo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390448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3C1D"/>
                </a:solidFill>
              </a:rPr>
              <a:t>RRHH  ·  Finanzas  ·  TI  ·  Compras  ·  Legal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600200"/>
            <a:ext cx="0" cy="91440"/>
          </a:xfrm>
          <a:prstGeom prst="line">
            <a:avLst/>
          </a:prstGeom>
          <a:noFill/>
          <a:ln w="12700">
            <a:solidFill>
              <a:srgbClr val="CECBF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572000" y="3474720"/>
            <a:ext cx="0" cy="91440"/>
          </a:xfrm>
          <a:prstGeom prst="line">
            <a:avLst/>
          </a:prstGeom>
          <a:noFill/>
          <a:ln w="12700">
            <a:solidFill>
              <a:srgbClr val="F5C4B3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001000" y="1737360"/>
            <a:ext cx="1005840" cy="137160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</a:rPr>
              <a:t>CLIENTE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01000" y="21031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Satisfacción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Valor recibido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0" y="2423160"/>
            <a:ext cx="411480" cy="0"/>
          </a:xfrm>
          <a:prstGeom prst="line">
            <a:avLst/>
          </a:prstGeom>
          <a:noFill/>
          <a:ln w="19050">
            <a:solidFill>
              <a:srgbClr val="C0DD9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200400" y="4663440"/>
            <a:ext cx="2743200" cy="320040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6D11"/>
                </a:solidFill>
              </a:rPr>
              <a:t>↺  Retroalimentación del cliente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Entradas y Salidas del Proceso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377440" cy="356616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2377440" cy="4572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ENTRADAS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356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85FA5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Necesidades del cliente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110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85FA5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Requisitos legales y normativos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865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85FA5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Recursos humanos y financieros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620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85FA5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Información del mercado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85FA5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Materias primas / insumos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13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85FA5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Resultados de procesos anteriores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2697480" cy="2468880"/>
          </a:xfrm>
          <a:prstGeom prst="rect">
            <a:avLst/>
          </a:prstGeom>
          <a:solidFill>
            <a:srgbClr val="EEEDFE"/>
          </a:solidFill>
          <a:ln w="19050">
            <a:solidFill>
              <a:srgbClr val="CECB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417320"/>
            <a:ext cx="2697480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417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0574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34AB7"/>
                </a:solidFill>
              </a:rPr>
              <a:t>Transformación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34AB7"/>
                </a:solidFill>
              </a:rPr>
              <a:t>de entradas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34AB7"/>
                </a:solidFill>
              </a:rPr>
              <a:t>en valor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34AB7"/>
                </a:solidFill>
              </a:rPr>
              <a:t>para el cliente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2651760"/>
            <a:ext cx="54864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97880" y="2651760"/>
            <a:ext cx="54864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868680"/>
            <a:ext cx="2377440" cy="356616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868680"/>
            <a:ext cx="237744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868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SALIDAS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14356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6E56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Producto o servicio entregado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19110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6E56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Satisfacción y fidelización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3865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6E56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Informes y registros de gestión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8620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6E56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Indicadores de desempeño (KPIs)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337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6E56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Retroalimentación y mejoras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3813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6E56"/>
                </a:solidFill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Valor generado para la empresa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</a:rPr>
              <a:t>Las salidas de un proceso pueden convertirse en entradas de otro — así se forma la cadena de valor.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Importancia en la Organización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ECB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6012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978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</a:rPr>
              <a:t>Visión sistémica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527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Ver la empresa como sistema integrado, no como áreas aisladas.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ECB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777240"/>
            <a:ext cx="2743200" cy="64008"/>
          </a:xfrm>
          <a:prstGeom prst="rect">
            <a:avLst/>
          </a:prstGeom>
          <a:solidFill>
            <a:srgbClr val="2D3A8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960120"/>
            <a:ext cx="457200" cy="457200"/>
          </a:xfrm>
          <a:prstGeom prst="ellipse">
            <a:avLst/>
          </a:prstGeom>
          <a:solidFill>
            <a:srgbClr val="EEEDF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A8C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978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8C"/>
                </a:solidFill>
              </a:rPr>
              <a:t>Alineación estratégica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527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Conecta la operación diaria con los objetivos de largo plazo.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777240"/>
            <a:ext cx="2743200" cy="640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96012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978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</a:rPr>
              <a:t>Mejora continua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527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Detecta cuellos de botella e ineficiencias para optimizarlos.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788920"/>
            <a:ext cx="2743200" cy="640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297180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29900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</a:rPr>
              <a:t>Certificaciones (ISO)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35387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Es requisito fundamental en ISO 9001 y otros modelos de calidad.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78892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788920"/>
            <a:ext cx="2743200" cy="6400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2971800"/>
            <a:ext cx="457200" cy="457200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86200" y="29900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</a:rPr>
              <a:t>Claridad de roles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35387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Define responsables por proceso, eliminando duplicidades.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278892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788920"/>
            <a:ext cx="2743200" cy="6400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2971800"/>
            <a:ext cx="457200" cy="457200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</a:rPr>
              <a:t>06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12280" y="29900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</a:rPr>
              <a:t>Orientación al cliente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35387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E5A"/>
                </a:solidFill>
              </a:rPr>
              <a:t>Centra todos los procesos en generar valor al cliente final.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4AB7"/>
                </a:solidFill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Ejemplo Aplicado — Empresa de Software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7498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SoftCo S.A.S  —  Empresa de desarrollo de software a medida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2788920" cy="38404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07008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Estratégicos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788920" cy="749808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91640"/>
            <a:ext cx="54864" cy="7498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Planeación de producto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039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Roadmap, OKRs y prioridades tecnológicas del trimestre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2788920" cy="749808"/>
          </a:xfrm>
          <a:prstGeom prst="rect">
            <a:avLst/>
          </a:prstGeom>
          <a:solidFill>
            <a:srgbClr val="EEEDFE"/>
          </a:solidFill>
          <a:ln w="6350">
            <a:solidFill>
              <a:srgbClr val="CECB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14600"/>
            <a:ext cx="54864" cy="7498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Gestión de calidad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Estándares de código, revisión por pares y pruebas de seguridad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18688" y="1207008"/>
            <a:ext cx="2788920" cy="3840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3328416" y="1207008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Misionales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18688" y="1691640"/>
            <a:ext cx="2788920" cy="749808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1691640"/>
            <a:ext cx="54864" cy="7498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Levantamiento de requisitos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2039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Entrevistas con el cliente, historias de usuario y alcance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2514600"/>
            <a:ext cx="2788920" cy="749808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2514600"/>
            <a:ext cx="54864" cy="7498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Desarrollo de software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28620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Diseño, codificación, pruebas y despliegue de funcionalidades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3337560"/>
            <a:ext cx="2788920" cy="749808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18688" y="3337560"/>
            <a:ext cx="54864" cy="7498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Implementación y onboarding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Configuración, puesta en marcha y capacitación al usuario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18688" y="4160520"/>
            <a:ext cx="2788920" cy="749808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4160520"/>
            <a:ext cx="54864" cy="7498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4" name="Text 32"/>
          <p:cNvSpPr/>
          <p:nvPr/>
        </p:nvSpPr>
        <p:spPr>
          <a:xfrm>
            <a:off x="3355848" y="4206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Soporte técnico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45079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Atención de incidentes, resolución de bugs y acompañamiento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63056" y="1207008"/>
            <a:ext cx="2788920" cy="38404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7" name="Text 35"/>
          <p:cNvSpPr/>
          <p:nvPr/>
        </p:nvSpPr>
        <p:spPr>
          <a:xfrm>
            <a:off x="6272784" y="1207008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 Apoyo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63056" y="1691640"/>
            <a:ext cx="2788920" cy="749808"/>
          </a:xfrm>
          <a:prstGeom prst="rect">
            <a:avLst/>
          </a:prstGeom>
          <a:solidFill>
            <a:srgbClr val="FAECE7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3056" y="1691640"/>
            <a:ext cx="54864" cy="74980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40" name="Text 38"/>
          <p:cNvSpPr/>
          <p:nvPr/>
        </p:nvSpPr>
        <p:spPr>
          <a:xfrm>
            <a:off x="6300216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Gestión del talento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0216" y="2039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Reclutamiento, capacitación y desarrollo de developers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63056" y="2514600"/>
            <a:ext cx="2788920" cy="749808"/>
          </a:xfrm>
          <a:prstGeom prst="rect">
            <a:avLst/>
          </a:prstGeom>
          <a:solidFill>
            <a:srgbClr val="FAECE7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2514600"/>
            <a:ext cx="54864" cy="74980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44" name="Text 42"/>
          <p:cNvSpPr/>
          <p:nvPr/>
        </p:nvSpPr>
        <p:spPr>
          <a:xfrm>
            <a:off x="6300216" y="2560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Infraestructura TI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0216" y="28620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Servidores, seguridad cloud y herramientas DevOps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63056" y="3337560"/>
            <a:ext cx="2788920" cy="749808"/>
          </a:xfrm>
          <a:prstGeom prst="rect">
            <a:avLst/>
          </a:prstGeom>
          <a:solidFill>
            <a:srgbClr val="FAECE7"/>
          </a:solidFill>
          <a:ln w="6350">
            <a:solidFill>
              <a:srgbClr val="F5C4B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63056" y="3337560"/>
            <a:ext cx="54864" cy="749808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48" name="Text 46"/>
          <p:cNvSpPr/>
          <p:nvPr/>
        </p:nvSpPr>
        <p:spPr>
          <a:xfrm>
            <a:off x="6300216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</a:rPr>
              <a:t>Contabilidad y finanzas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0216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F5E5A"/>
                </a:solidFill>
              </a:rPr>
              <a:t>Facturación, nómina, reportes financieros y presupuesto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2F7A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40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ECBF6"/>
                </a:solidFill>
              </a:rPr>
              <a:t>Conclusión clave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El mapa de procesos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es el punto de partida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de toda mejora organizacional.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2971800"/>
            <a:ext cx="3200400" cy="36576"/>
          </a:xfrm>
          <a:prstGeom prst="rect">
            <a:avLst/>
          </a:prstGeom>
          <a:solidFill>
            <a:srgbClr val="CECB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1546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CBF6"/>
                </a:solidFill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D3D1C7"/>
                </a:solidFill>
              </a:rPr>
              <a:t>Empieza y termina en el cliente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5570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CBF6"/>
                </a:solidFill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D3D1C7"/>
                </a:solidFill>
              </a:rPr>
              <a:t>No es un organigrama — es un flujo de valor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9593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CBF6"/>
                </a:solidFill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D3D1C7"/>
                </a:solidFill>
              </a:rPr>
              <a:t>Base para ISO 9001 y mejora continua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de Procesos</dc:title>
  <dc:subject>PptxGenJS Presentation</dc:subject>
  <dc:creator>Ingeniería de Software</dc:creator>
  <cp:lastModifiedBy>Ingeniería de Software</cp:lastModifiedBy>
  <cp:revision>1</cp:revision>
  <dcterms:created xsi:type="dcterms:W3CDTF">2026-03-21T15:16:10Z</dcterms:created>
  <dcterms:modified xsi:type="dcterms:W3CDTF">2026-03-21T15:16:10Z</dcterms:modified>
</cp:coreProperties>
</file>
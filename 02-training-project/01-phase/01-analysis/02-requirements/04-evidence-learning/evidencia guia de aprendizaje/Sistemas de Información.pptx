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Garet" charset="1" panose="00000000000000000000"/>
      <p:regular r:id="rId23"/>
    </p:embeddedFont>
    <p:embeddedFont>
      <p:font typeface="Garet Bold" charset="1" panose="00000000000000000000"/>
      <p:regular r:id="rId24"/>
    </p:embeddedFont>
    <p:embeddedFont>
      <p:font typeface="Barlow SemiCondensed Bold" charset="1" panose="00000806000000000000"/>
      <p:regular r:id="rId25"/>
    </p:embeddedFont>
    <p:embeddedFont>
      <p:font typeface="Garet Bold Italic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2.jpeg" Type="http://schemas.openxmlformats.org/officeDocument/2006/relationships/image"/><Relationship Id="rId9" Target="../media/image1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4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4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4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4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4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jpe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5.jpeg" Type="http://schemas.openxmlformats.org/officeDocument/2006/relationships/image"/><Relationship Id="rId9" Target="../media/image1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jpe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5.jpeg" Type="http://schemas.openxmlformats.org/officeDocument/2006/relationships/image"/><Relationship Id="rId9" Target="../media/image1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8.jpeg" Type="http://schemas.openxmlformats.org/officeDocument/2006/relationships/image"/><Relationship Id="rId9" Target="../media/image1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8.jpeg" Type="http://schemas.openxmlformats.org/officeDocument/2006/relationships/image"/><Relationship Id="rId9" Target="../media/image1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8.jpeg" Type="http://schemas.openxmlformats.org/officeDocument/2006/relationships/image"/><Relationship Id="rId9" Target="../media/image1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8.jpeg" Type="http://schemas.openxmlformats.org/officeDocument/2006/relationships/image"/><Relationship Id="rId9" Target="../media/image19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8.jpeg" Type="http://schemas.openxmlformats.org/officeDocument/2006/relationships/image"/><Relationship Id="rId9" Target="../media/image19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20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2.jpeg" Type="http://schemas.openxmlformats.org/officeDocument/2006/relationships/image"/><Relationship Id="rId9" Target="../media/image1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21.jpe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42147" y="1179582"/>
            <a:ext cx="419912" cy="419912"/>
          </a:xfrm>
          <a:custGeom>
            <a:avLst/>
            <a:gdLst/>
            <a:ahLst/>
            <a:cxnLst/>
            <a:rect r="r" b="b" t="t" l="l"/>
            <a:pathLst>
              <a:path h="419912" w="419912">
                <a:moveTo>
                  <a:pt x="0" y="0"/>
                </a:moveTo>
                <a:lnTo>
                  <a:pt x="419912" y="0"/>
                </a:lnTo>
                <a:lnTo>
                  <a:pt x="419912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01993" y="1179582"/>
            <a:ext cx="357307" cy="419912"/>
          </a:xfrm>
          <a:custGeom>
            <a:avLst/>
            <a:gdLst/>
            <a:ahLst/>
            <a:cxnLst/>
            <a:rect r="r" b="b" t="t" l="l"/>
            <a:pathLst>
              <a:path h="419912" w="357307">
                <a:moveTo>
                  <a:pt x="0" y="0"/>
                </a:moveTo>
                <a:lnTo>
                  <a:pt x="357307" y="0"/>
                </a:lnTo>
                <a:lnTo>
                  <a:pt x="357307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86249"/>
            <a:ext cx="358803" cy="539185"/>
          </a:xfrm>
          <a:custGeom>
            <a:avLst/>
            <a:gdLst/>
            <a:ahLst/>
            <a:cxnLst/>
            <a:rect r="r" b="b" t="t" l="l"/>
            <a:pathLst>
              <a:path h="539185" w="358803">
                <a:moveTo>
                  <a:pt x="0" y="0"/>
                </a:moveTo>
                <a:lnTo>
                  <a:pt x="358803" y="0"/>
                </a:lnTo>
                <a:lnTo>
                  <a:pt x="358803" y="539185"/>
                </a:lnTo>
                <a:lnTo>
                  <a:pt x="0" y="539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507449" y="8179063"/>
            <a:ext cx="21351072" cy="6166215"/>
            <a:chOff x="0" y="0"/>
            <a:chExt cx="5623328" cy="16240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23328" cy="1624024"/>
            </a:xfrm>
            <a:custGeom>
              <a:avLst/>
              <a:gdLst/>
              <a:ahLst/>
              <a:cxnLst/>
              <a:rect r="r" b="b" t="t" l="l"/>
              <a:pathLst>
                <a:path h="1624024" w="5623328">
                  <a:moveTo>
                    <a:pt x="0" y="0"/>
                  </a:moveTo>
                  <a:lnTo>
                    <a:pt x="5623328" y="0"/>
                  </a:lnTo>
                  <a:lnTo>
                    <a:pt x="5623328" y="1624024"/>
                  </a:lnTo>
                  <a:lnTo>
                    <a:pt x="0" y="1624024"/>
                  </a:lnTo>
                  <a:close/>
                </a:path>
              </a:pathLst>
            </a:custGeom>
            <a:gradFill rotWithShape="true">
              <a:gsLst>
                <a:gs pos="0">
                  <a:srgbClr val="D9FE54">
                    <a:alpha val="0"/>
                  </a:srgbClr>
                </a:gs>
                <a:gs pos="100000">
                  <a:srgbClr val="D9FE5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76200"/>
              <a:ext cx="5623328" cy="1547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29208" y="7224939"/>
            <a:ext cx="4512939" cy="773149"/>
            <a:chOff x="0" y="0"/>
            <a:chExt cx="1422363" cy="2436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22363" cy="243677"/>
            </a:xfrm>
            <a:custGeom>
              <a:avLst/>
              <a:gdLst/>
              <a:ahLst/>
              <a:cxnLst/>
              <a:rect r="r" b="b" t="t" l="l"/>
              <a:pathLst>
                <a:path h="243677" w="1422363">
                  <a:moveTo>
                    <a:pt x="121838" y="0"/>
                  </a:moveTo>
                  <a:lnTo>
                    <a:pt x="1300524" y="0"/>
                  </a:lnTo>
                  <a:cubicBezTo>
                    <a:pt x="1367814" y="0"/>
                    <a:pt x="1422363" y="54549"/>
                    <a:pt x="1422363" y="121838"/>
                  </a:cubicBezTo>
                  <a:lnTo>
                    <a:pt x="1422363" y="121838"/>
                  </a:lnTo>
                  <a:cubicBezTo>
                    <a:pt x="1422363" y="154152"/>
                    <a:pt x="1409526" y="185142"/>
                    <a:pt x="1386677" y="207991"/>
                  </a:cubicBezTo>
                  <a:cubicBezTo>
                    <a:pt x="1363828" y="230840"/>
                    <a:pt x="1332838" y="243677"/>
                    <a:pt x="1300524" y="243677"/>
                  </a:cubicBezTo>
                  <a:lnTo>
                    <a:pt x="121838" y="243677"/>
                  </a:lnTo>
                  <a:cubicBezTo>
                    <a:pt x="89525" y="243677"/>
                    <a:pt x="58535" y="230840"/>
                    <a:pt x="35686" y="207991"/>
                  </a:cubicBezTo>
                  <a:cubicBezTo>
                    <a:pt x="12837" y="185142"/>
                    <a:pt x="0" y="154152"/>
                    <a:pt x="0" y="121838"/>
                  </a:cubicBezTo>
                  <a:lnTo>
                    <a:pt x="0" y="121838"/>
                  </a:lnTo>
                  <a:cubicBezTo>
                    <a:pt x="0" y="89525"/>
                    <a:pt x="12837" y="58535"/>
                    <a:pt x="35686" y="35686"/>
                  </a:cubicBezTo>
                  <a:cubicBezTo>
                    <a:pt x="58535" y="12837"/>
                    <a:pt x="89525" y="0"/>
                    <a:pt x="121838" y="0"/>
                  </a:cubicBezTo>
                  <a:close/>
                </a:path>
              </a:pathLst>
            </a:custGeom>
            <a:ln w="19050" cap="rnd">
              <a:solidFill>
                <a:srgbClr val="D9FE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422363" cy="310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464950" y="1244716"/>
            <a:ext cx="2180247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SERVICE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22682" y="1244716"/>
            <a:ext cx="244263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ABOUT 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63024" y="1244716"/>
            <a:ext cx="1943613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27333" y="3009905"/>
            <a:ext cx="10199251" cy="318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1"/>
              </a:lnSpc>
            </a:pPr>
            <a:r>
              <a:rPr lang="en-US" sz="6447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SISTEMAS DE INFORMACIÓN: ELEMENTOS, OBJETIVOS Y CLASIFICACIÓN</a:t>
            </a:r>
          </a:p>
          <a:p>
            <a:pPr algn="l">
              <a:lnSpc>
                <a:spcPts val="3901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254334" y="7263039"/>
            <a:ext cx="3262687" cy="50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</a:p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 spc="2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Inici</a:t>
            </a:r>
            <a:r>
              <a:rPr lang="en-US" sz="2000" spc="2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AR PRESENTACIÓN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946383" y="6933159"/>
            <a:ext cx="0" cy="732153"/>
          </a:xfrm>
          <a:prstGeom prst="line">
            <a:avLst/>
          </a:prstGeom>
          <a:ln cap="rnd" w="38100">
            <a:solidFill>
              <a:srgbClr val="D9FE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793395" y="8958515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8" y="0"/>
                </a:lnTo>
                <a:lnTo>
                  <a:pt x="1133938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755521" y="3116075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6" y="0"/>
                </a:lnTo>
                <a:lnTo>
                  <a:pt x="1115036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1253249" y="2423554"/>
            <a:ext cx="2506498" cy="2564193"/>
          </a:xfrm>
          <a:custGeom>
            <a:avLst/>
            <a:gdLst/>
            <a:ahLst/>
            <a:cxnLst/>
            <a:rect r="r" b="b" t="t" l="l"/>
            <a:pathLst>
              <a:path h="2564193" w="2506498">
                <a:moveTo>
                  <a:pt x="0" y="0"/>
                </a:moveTo>
                <a:lnTo>
                  <a:pt x="2506498" y="0"/>
                </a:lnTo>
                <a:lnTo>
                  <a:pt x="2506498" y="2564192"/>
                </a:lnTo>
                <a:lnTo>
                  <a:pt x="0" y="25641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3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7034751" y="4476315"/>
            <a:ext cx="2506498" cy="2564193"/>
          </a:xfrm>
          <a:custGeom>
            <a:avLst/>
            <a:gdLst/>
            <a:ahLst/>
            <a:cxnLst/>
            <a:rect r="r" b="b" t="t" l="l"/>
            <a:pathLst>
              <a:path h="2564193" w="2506498">
                <a:moveTo>
                  <a:pt x="0" y="0"/>
                </a:moveTo>
                <a:lnTo>
                  <a:pt x="2506498" y="0"/>
                </a:lnTo>
                <a:lnTo>
                  <a:pt x="2506498" y="2564193"/>
                </a:lnTo>
                <a:lnTo>
                  <a:pt x="0" y="25641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3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080169" y="6253390"/>
            <a:ext cx="7434767" cy="1885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INTEGRANTES 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-JOSE ESNEIDER COVALEDA HORTUA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-EDWIN ALEJANDRO ESQUIVEL BAHAMON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-JULIAN STIVEN CAMARGO LOPEZ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-JAMINTON YEIR PEÑA GUARNICA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2147" y="1179582"/>
            <a:ext cx="419912" cy="419912"/>
          </a:xfrm>
          <a:custGeom>
            <a:avLst/>
            <a:gdLst/>
            <a:ahLst/>
            <a:cxnLst/>
            <a:rect r="r" b="b" t="t" l="l"/>
            <a:pathLst>
              <a:path h="419912" w="419912">
                <a:moveTo>
                  <a:pt x="0" y="0"/>
                </a:moveTo>
                <a:lnTo>
                  <a:pt x="419912" y="0"/>
                </a:lnTo>
                <a:lnTo>
                  <a:pt x="419912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01993" y="1179582"/>
            <a:ext cx="357307" cy="419912"/>
          </a:xfrm>
          <a:custGeom>
            <a:avLst/>
            <a:gdLst/>
            <a:ahLst/>
            <a:cxnLst/>
            <a:rect r="r" b="b" t="t" l="l"/>
            <a:pathLst>
              <a:path h="419912" w="357307">
                <a:moveTo>
                  <a:pt x="0" y="0"/>
                </a:moveTo>
                <a:lnTo>
                  <a:pt x="357307" y="0"/>
                </a:lnTo>
                <a:lnTo>
                  <a:pt x="357307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86249"/>
            <a:ext cx="358803" cy="539185"/>
          </a:xfrm>
          <a:custGeom>
            <a:avLst/>
            <a:gdLst/>
            <a:ahLst/>
            <a:cxnLst/>
            <a:rect r="r" b="b" t="t" l="l"/>
            <a:pathLst>
              <a:path h="539185" w="358803">
                <a:moveTo>
                  <a:pt x="0" y="0"/>
                </a:moveTo>
                <a:lnTo>
                  <a:pt x="358803" y="0"/>
                </a:lnTo>
                <a:lnTo>
                  <a:pt x="358803" y="539185"/>
                </a:lnTo>
                <a:lnTo>
                  <a:pt x="0" y="539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464950" y="2408954"/>
            <a:ext cx="5887153" cy="588715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163" y="14163"/>
              <a:ext cx="784475" cy="784475"/>
            </a:xfrm>
            <a:custGeom>
              <a:avLst/>
              <a:gdLst/>
              <a:ahLst/>
              <a:cxnLst/>
              <a:rect r="r" b="b" t="t" l="l"/>
              <a:pathLst>
                <a:path h="784475" w="784475">
                  <a:moveTo>
                    <a:pt x="416414" y="10014"/>
                  </a:moveTo>
                  <a:lnTo>
                    <a:pt x="774460" y="368060"/>
                  </a:lnTo>
                  <a:cubicBezTo>
                    <a:pt x="787813" y="381413"/>
                    <a:pt x="787813" y="403061"/>
                    <a:pt x="774460" y="416414"/>
                  </a:cubicBezTo>
                  <a:lnTo>
                    <a:pt x="416414" y="774460"/>
                  </a:lnTo>
                  <a:cubicBezTo>
                    <a:pt x="403061" y="787813"/>
                    <a:pt x="381413" y="787813"/>
                    <a:pt x="368060" y="774460"/>
                  </a:cubicBezTo>
                  <a:lnTo>
                    <a:pt x="10014" y="416414"/>
                  </a:lnTo>
                  <a:cubicBezTo>
                    <a:pt x="-3339" y="403061"/>
                    <a:pt x="-3339" y="381413"/>
                    <a:pt x="10014" y="368060"/>
                  </a:cubicBezTo>
                  <a:lnTo>
                    <a:pt x="368060" y="10014"/>
                  </a:lnTo>
                  <a:cubicBezTo>
                    <a:pt x="381413" y="-3339"/>
                    <a:pt x="403061" y="-3339"/>
                    <a:pt x="416414" y="10014"/>
                  </a:cubicBezTo>
                  <a:close/>
                </a:path>
              </a:pathLst>
            </a:custGeom>
            <a:blipFill>
              <a:blip r:embed="rId8"/>
              <a:stretch>
                <a:fillRect l="-25046" t="0" r="-25046" b="0"/>
              </a:stretch>
            </a:blipFill>
            <a:ln w="190500" cap="rnd">
              <a:solidFill>
                <a:srgbClr val="D9FE54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344423" y="4399847"/>
            <a:ext cx="5887153" cy="588715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4163" y="14163"/>
              <a:ext cx="784475" cy="784475"/>
            </a:xfrm>
            <a:custGeom>
              <a:avLst/>
              <a:gdLst/>
              <a:ahLst/>
              <a:cxnLst/>
              <a:rect r="r" b="b" t="t" l="l"/>
              <a:pathLst>
                <a:path h="784475" w="784475">
                  <a:moveTo>
                    <a:pt x="416414" y="10014"/>
                  </a:moveTo>
                  <a:lnTo>
                    <a:pt x="774460" y="368060"/>
                  </a:lnTo>
                  <a:cubicBezTo>
                    <a:pt x="787813" y="381413"/>
                    <a:pt x="787813" y="403061"/>
                    <a:pt x="774460" y="416414"/>
                  </a:cubicBezTo>
                  <a:lnTo>
                    <a:pt x="416414" y="774460"/>
                  </a:lnTo>
                  <a:cubicBezTo>
                    <a:pt x="403061" y="787813"/>
                    <a:pt x="381413" y="787813"/>
                    <a:pt x="368060" y="774460"/>
                  </a:cubicBezTo>
                  <a:lnTo>
                    <a:pt x="10014" y="416414"/>
                  </a:lnTo>
                  <a:cubicBezTo>
                    <a:pt x="-3339" y="403061"/>
                    <a:pt x="-3339" y="381413"/>
                    <a:pt x="10014" y="368060"/>
                  </a:cubicBezTo>
                  <a:lnTo>
                    <a:pt x="368060" y="10014"/>
                  </a:lnTo>
                  <a:cubicBezTo>
                    <a:pt x="381413" y="-3339"/>
                    <a:pt x="403061" y="-3339"/>
                    <a:pt x="416414" y="10014"/>
                  </a:cubicBezTo>
                  <a:close/>
                </a:path>
              </a:pathLst>
            </a:custGeom>
            <a:blipFill>
              <a:blip r:embed="rId9"/>
              <a:stretch>
                <a:fillRect l="-25046" t="0" r="-25046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464950" y="1244716"/>
            <a:ext cx="2180247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22682" y="1244716"/>
            <a:ext cx="244263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63024" y="1244716"/>
            <a:ext cx="1943613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2587" y="2004141"/>
            <a:ext cx="535909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9"/>
              </a:lnSpc>
            </a:pPr>
            <a:r>
              <a:rPr lang="en-US" b="true" sz="5699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INTRODUCCIÓN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7475" y="7885507"/>
            <a:ext cx="6369372" cy="148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962" i="true" b="true">
                <a:solidFill>
                  <a:srgbClr val="D9FE54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* Manejar grandes cantidades de información.</a:t>
            </a:r>
          </a:p>
          <a:p>
            <a:pPr algn="l">
              <a:lnSpc>
                <a:spcPts val="1687"/>
              </a:lnSpc>
            </a:pPr>
          </a:p>
          <a:p>
            <a:pPr algn="l">
              <a:lnSpc>
                <a:spcPts val="1687"/>
              </a:lnSpc>
            </a:pPr>
            <a:r>
              <a:rPr lang="en-US" sz="1962" i="true" b="true">
                <a:solidFill>
                  <a:srgbClr val="D9FE54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* Optimizar procesos empresariales.</a:t>
            </a:r>
          </a:p>
          <a:p>
            <a:pPr algn="l">
              <a:lnSpc>
                <a:spcPts val="1687"/>
              </a:lnSpc>
            </a:pPr>
          </a:p>
          <a:p>
            <a:pPr algn="l">
              <a:lnSpc>
                <a:spcPts val="1687"/>
              </a:lnSpc>
            </a:pPr>
            <a:r>
              <a:rPr lang="en-US" sz="1962" i="true" b="true">
                <a:solidFill>
                  <a:srgbClr val="D9FE54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* Tomar decisiones basadas en datos.</a:t>
            </a:r>
          </a:p>
          <a:p>
            <a:pPr algn="l">
              <a:lnSpc>
                <a:spcPts val="1687"/>
              </a:lnSpc>
            </a:pPr>
          </a:p>
          <a:p>
            <a:pPr algn="l">
              <a:lnSpc>
                <a:spcPts val="1687"/>
              </a:lnSpc>
            </a:pPr>
            <a:r>
              <a:rPr lang="en-US" b="true" sz="1962" i="true">
                <a:solidFill>
                  <a:srgbClr val="D9FE54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* Mejorar la productividad y la competitividad.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246833"/>
            <a:ext cx="7434767" cy="3594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Un Sistema de Información (SI) es un conjunto de elementos que trabajan de manera coordinada para recopilar, procesar, almacenar y distribuir información dentro de una organización.</a:t>
            </a:r>
          </a:p>
          <a:p>
            <a:pPr algn="l">
              <a:lnSpc>
                <a:spcPts val="2850"/>
              </a:lnSpc>
            </a:pPr>
          </a:p>
          <a:p>
            <a:pPr algn="just">
              <a:lnSpc>
                <a:spcPts val="2850"/>
              </a:lnSpc>
            </a:pPr>
            <a:r>
              <a:rPr lang="en-US" sz="19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Su objetivo principal es apoyar las actividades de una</a:t>
            </a:r>
          </a:p>
          <a:p>
            <a:pPr algn="just">
              <a:lnSpc>
                <a:spcPts val="2850"/>
              </a:lnSpc>
            </a:pPr>
            <a:r>
              <a:rPr lang="en-US" sz="19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empresa y facilitar la toma de decisiones.</a:t>
            </a:r>
          </a:p>
          <a:p>
            <a:pPr algn="l">
              <a:lnSpc>
                <a:spcPts val="2850"/>
              </a:lnSpc>
            </a:pPr>
          </a:p>
          <a:p>
            <a:pPr algn="just" marL="0" indent="0" lvl="0">
              <a:lnSpc>
                <a:spcPts val="2850"/>
              </a:lnSpc>
              <a:spcBef>
                <a:spcPct val="0"/>
              </a:spcBef>
            </a:pPr>
            <a:r>
              <a:rPr lang="en-US" sz="19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En la actualidad, los sistemas de información son fundamentales para las organizaciones porque permiten: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344475" y="2704883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6" y="0"/>
                </a:lnTo>
                <a:lnTo>
                  <a:pt x="1115036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2147" y="1179582"/>
            <a:ext cx="419912" cy="419912"/>
          </a:xfrm>
          <a:custGeom>
            <a:avLst/>
            <a:gdLst/>
            <a:ahLst/>
            <a:cxnLst/>
            <a:rect r="r" b="b" t="t" l="l"/>
            <a:pathLst>
              <a:path h="419912" w="419912">
                <a:moveTo>
                  <a:pt x="0" y="0"/>
                </a:moveTo>
                <a:lnTo>
                  <a:pt x="419912" y="0"/>
                </a:lnTo>
                <a:lnTo>
                  <a:pt x="419912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01993" y="1179582"/>
            <a:ext cx="357307" cy="419912"/>
          </a:xfrm>
          <a:custGeom>
            <a:avLst/>
            <a:gdLst/>
            <a:ahLst/>
            <a:cxnLst/>
            <a:rect r="r" b="b" t="t" l="l"/>
            <a:pathLst>
              <a:path h="419912" w="357307">
                <a:moveTo>
                  <a:pt x="0" y="0"/>
                </a:moveTo>
                <a:lnTo>
                  <a:pt x="357307" y="0"/>
                </a:lnTo>
                <a:lnTo>
                  <a:pt x="357307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86249"/>
            <a:ext cx="358803" cy="539185"/>
          </a:xfrm>
          <a:custGeom>
            <a:avLst/>
            <a:gdLst/>
            <a:ahLst/>
            <a:cxnLst/>
            <a:rect r="r" b="b" t="t" l="l"/>
            <a:pathLst>
              <a:path h="539185" w="358803">
                <a:moveTo>
                  <a:pt x="0" y="0"/>
                </a:moveTo>
                <a:lnTo>
                  <a:pt x="358803" y="0"/>
                </a:lnTo>
                <a:lnTo>
                  <a:pt x="358803" y="539185"/>
                </a:lnTo>
                <a:lnTo>
                  <a:pt x="0" y="539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006638" y="4709685"/>
            <a:ext cx="178202" cy="178202"/>
            <a:chOff x="0" y="0"/>
            <a:chExt cx="46934" cy="469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934" cy="46934"/>
            </a:xfrm>
            <a:custGeom>
              <a:avLst/>
              <a:gdLst/>
              <a:ahLst/>
              <a:cxnLst/>
              <a:rect r="r" b="b" t="t" l="l"/>
              <a:pathLst>
                <a:path h="46934" w="46934">
                  <a:moveTo>
                    <a:pt x="23467" y="0"/>
                  </a:moveTo>
                  <a:lnTo>
                    <a:pt x="23467" y="0"/>
                  </a:lnTo>
                  <a:cubicBezTo>
                    <a:pt x="36427" y="0"/>
                    <a:pt x="46934" y="10507"/>
                    <a:pt x="46934" y="23467"/>
                  </a:cubicBezTo>
                  <a:lnTo>
                    <a:pt x="46934" y="23467"/>
                  </a:lnTo>
                  <a:cubicBezTo>
                    <a:pt x="46934" y="36427"/>
                    <a:pt x="36427" y="46934"/>
                    <a:pt x="23467" y="46934"/>
                  </a:cubicBezTo>
                  <a:lnTo>
                    <a:pt x="23467" y="46934"/>
                  </a:lnTo>
                  <a:cubicBezTo>
                    <a:pt x="10507" y="46934"/>
                    <a:pt x="0" y="36427"/>
                    <a:pt x="0" y="23467"/>
                  </a:cubicBezTo>
                  <a:lnTo>
                    <a:pt x="0" y="23467"/>
                  </a:lnTo>
                  <a:cubicBezTo>
                    <a:pt x="0" y="10507"/>
                    <a:pt x="10507" y="0"/>
                    <a:pt x="23467" y="0"/>
                  </a:cubicBezTo>
                  <a:close/>
                </a:path>
              </a:pathLst>
            </a:custGeom>
            <a:solidFill>
              <a:srgbClr val="D9FE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46934" cy="123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19457" y="3024119"/>
            <a:ext cx="3171934" cy="5246370"/>
            <a:chOff x="0" y="0"/>
            <a:chExt cx="49141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1416" cy="812800"/>
            </a:xfrm>
            <a:custGeom>
              <a:avLst/>
              <a:gdLst/>
              <a:ahLst/>
              <a:cxnLst/>
              <a:rect r="r" b="b" t="t" l="l"/>
              <a:pathLst>
                <a:path h="812800" w="491416">
                  <a:moveTo>
                    <a:pt x="75663" y="0"/>
                  </a:moveTo>
                  <a:lnTo>
                    <a:pt x="415752" y="0"/>
                  </a:lnTo>
                  <a:cubicBezTo>
                    <a:pt x="435819" y="0"/>
                    <a:pt x="455065" y="7972"/>
                    <a:pt x="469254" y="22161"/>
                  </a:cubicBezTo>
                  <a:cubicBezTo>
                    <a:pt x="483444" y="36351"/>
                    <a:pt x="491416" y="55596"/>
                    <a:pt x="491416" y="75663"/>
                  </a:cubicBezTo>
                  <a:lnTo>
                    <a:pt x="491416" y="737137"/>
                  </a:lnTo>
                  <a:cubicBezTo>
                    <a:pt x="491416" y="778924"/>
                    <a:pt x="457540" y="812800"/>
                    <a:pt x="415752" y="812800"/>
                  </a:cubicBezTo>
                  <a:lnTo>
                    <a:pt x="75663" y="812800"/>
                  </a:lnTo>
                  <a:cubicBezTo>
                    <a:pt x="55596" y="812800"/>
                    <a:pt x="36351" y="804828"/>
                    <a:pt x="22161" y="790639"/>
                  </a:cubicBezTo>
                  <a:cubicBezTo>
                    <a:pt x="7972" y="776449"/>
                    <a:pt x="0" y="757204"/>
                    <a:pt x="0" y="737137"/>
                  </a:cubicBezTo>
                  <a:lnTo>
                    <a:pt x="0" y="75663"/>
                  </a:lnTo>
                  <a:cubicBezTo>
                    <a:pt x="0" y="55596"/>
                    <a:pt x="7972" y="36351"/>
                    <a:pt x="22161" y="22161"/>
                  </a:cubicBezTo>
                  <a:cubicBezTo>
                    <a:pt x="36351" y="7972"/>
                    <a:pt x="55596" y="0"/>
                    <a:pt x="75663" y="0"/>
                  </a:cubicBezTo>
                  <a:close/>
                </a:path>
              </a:pathLst>
            </a:custGeom>
            <a:blipFill>
              <a:blip r:embed="rId8"/>
              <a:stretch>
                <a:fillRect l="-98954" t="0" r="-51177" b="0"/>
              </a:stretch>
            </a:blipFill>
            <a:ln w="161925" cap="rnd">
              <a:solidFill>
                <a:srgbClr val="D9FE54"/>
              </a:solidFill>
              <a:prstDash val="solid"/>
              <a:round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0464950" y="1244716"/>
            <a:ext cx="2180247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SERVICE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22682" y="1244716"/>
            <a:ext cx="244263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ABOUT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63024" y="1244716"/>
            <a:ext cx="1943613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22682" y="2312638"/>
            <a:ext cx="819436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9"/>
              </a:lnSpc>
            </a:pPr>
            <a:r>
              <a:rPr lang="en-US" b="true" sz="5799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ELEMENTOS DE UN SISTEMA DE INFORMACIÓN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58440" y="4694582"/>
            <a:ext cx="3110089" cy="31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25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Personas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49792" y="3898556"/>
            <a:ext cx="3680166" cy="2387590"/>
            <a:chOff x="0" y="0"/>
            <a:chExt cx="969262" cy="6288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9262" cy="628830"/>
            </a:xfrm>
            <a:custGeom>
              <a:avLst/>
              <a:gdLst/>
              <a:ahLst/>
              <a:cxnLst/>
              <a:rect r="r" b="b" t="t" l="l"/>
              <a:pathLst>
                <a:path h="628830" w="969262">
                  <a:moveTo>
                    <a:pt x="42074" y="0"/>
                  </a:moveTo>
                  <a:lnTo>
                    <a:pt x="927188" y="0"/>
                  </a:lnTo>
                  <a:cubicBezTo>
                    <a:pt x="938347" y="0"/>
                    <a:pt x="949048" y="4433"/>
                    <a:pt x="956939" y="12323"/>
                  </a:cubicBezTo>
                  <a:cubicBezTo>
                    <a:pt x="964829" y="20213"/>
                    <a:pt x="969262" y="30915"/>
                    <a:pt x="969262" y="42074"/>
                  </a:cubicBezTo>
                  <a:lnTo>
                    <a:pt x="969262" y="586756"/>
                  </a:lnTo>
                  <a:cubicBezTo>
                    <a:pt x="969262" y="597915"/>
                    <a:pt x="964829" y="608617"/>
                    <a:pt x="956939" y="616507"/>
                  </a:cubicBezTo>
                  <a:cubicBezTo>
                    <a:pt x="949048" y="624397"/>
                    <a:pt x="938347" y="628830"/>
                    <a:pt x="927188" y="628830"/>
                  </a:cubicBezTo>
                  <a:lnTo>
                    <a:pt x="42074" y="628830"/>
                  </a:lnTo>
                  <a:cubicBezTo>
                    <a:pt x="30915" y="628830"/>
                    <a:pt x="20213" y="624397"/>
                    <a:pt x="12323" y="616507"/>
                  </a:cubicBezTo>
                  <a:cubicBezTo>
                    <a:pt x="4433" y="608617"/>
                    <a:pt x="0" y="597915"/>
                    <a:pt x="0" y="586756"/>
                  </a:cubicBezTo>
                  <a:lnTo>
                    <a:pt x="0" y="42074"/>
                  </a:lnTo>
                  <a:cubicBezTo>
                    <a:pt x="0" y="30915"/>
                    <a:pt x="4433" y="20213"/>
                    <a:pt x="12323" y="12323"/>
                  </a:cubicBezTo>
                  <a:cubicBezTo>
                    <a:pt x="20213" y="4433"/>
                    <a:pt x="30915" y="0"/>
                    <a:pt x="42074" y="0"/>
                  </a:cubicBezTo>
                  <a:close/>
                </a:path>
              </a:pathLst>
            </a:custGeom>
            <a:solidFill>
              <a:srgbClr val="2B37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57150"/>
              <a:ext cx="969262" cy="571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37266" y="4008088"/>
            <a:ext cx="3662663" cy="217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500" b="true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Un sistema de información está compuesto por   cinco elementos principales que trabajan juntos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20534" y="8805990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8" y="0"/>
                </a:lnTo>
                <a:lnTo>
                  <a:pt x="1133938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523129" y="2729331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5" y="0"/>
                </a:lnTo>
                <a:lnTo>
                  <a:pt x="1115035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553406" y="5425720"/>
            <a:ext cx="6183581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Son los usuarios que interactúan con el sistema de información.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04018" y="6819076"/>
            <a:ext cx="4122600" cy="1986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Ejemplos:</a:t>
            </a:r>
          </a:p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Analistas de sistemas</a:t>
            </a:r>
          </a:p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Programadores</a:t>
            </a:r>
          </a:p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Administradores</a:t>
            </a:r>
          </a:p>
          <a:p>
            <a:pPr algn="ctr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Usuarios finales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15564" y="6819076"/>
            <a:ext cx="4122600" cy="2386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Los desarrolladores utilizan una plataforma para registrar tareas, reportar errores y actualizar el progreso del proyecto.</a:t>
            </a:r>
          </a:p>
          <a:p>
            <a:pPr algn="ctr" marL="0" indent="0" lvl="0">
              <a:lnSpc>
                <a:spcPts val="31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2147" y="1179582"/>
            <a:ext cx="419912" cy="419912"/>
          </a:xfrm>
          <a:custGeom>
            <a:avLst/>
            <a:gdLst/>
            <a:ahLst/>
            <a:cxnLst/>
            <a:rect r="r" b="b" t="t" l="l"/>
            <a:pathLst>
              <a:path h="419912" w="419912">
                <a:moveTo>
                  <a:pt x="0" y="0"/>
                </a:moveTo>
                <a:lnTo>
                  <a:pt x="419912" y="0"/>
                </a:lnTo>
                <a:lnTo>
                  <a:pt x="419912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01993" y="1179582"/>
            <a:ext cx="357307" cy="419912"/>
          </a:xfrm>
          <a:custGeom>
            <a:avLst/>
            <a:gdLst/>
            <a:ahLst/>
            <a:cxnLst/>
            <a:rect r="r" b="b" t="t" l="l"/>
            <a:pathLst>
              <a:path h="419912" w="357307">
                <a:moveTo>
                  <a:pt x="0" y="0"/>
                </a:moveTo>
                <a:lnTo>
                  <a:pt x="357307" y="0"/>
                </a:lnTo>
                <a:lnTo>
                  <a:pt x="357307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86249"/>
            <a:ext cx="358803" cy="539185"/>
          </a:xfrm>
          <a:custGeom>
            <a:avLst/>
            <a:gdLst/>
            <a:ahLst/>
            <a:cxnLst/>
            <a:rect r="r" b="b" t="t" l="l"/>
            <a:pathLst>
              <a:path h="539185" w="358803">
                <a:moveTo>
                  <a:pt x="0" y="0"/>
                </a:moveTo>
                <a:lnTo>
                  <a:pt x="358803" y="0"/>
                </a:lnTo>
                <a:lnTo>
                  <a:pt x="358803" y="539185"/>
                </a:lnTo>
                <a:lnTo>
                  <a:pt x="0" y="539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006638" y="4709685"/>
            <a:ext cx="178202" cy="178202"/>
            <a:chOff x="0" y="0"/>
            <a:chExt cx="46934" cy="469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934" cy="46934"/>
            </a:xfrm>
            <a:custGeom>
              <a:avLst/>
              <a:gdLst/>
              <a:ahLst/>
              <a:cxnLst/>
              <a:rect r="r" b="b" t="t" l="l"/>
              <a:pathLst>
                <a:path h="46934" w="46934">
                  <a:moveTo>
                    <a:pt x="23467" y="0"/>
                  </a:moveTo>
                  <a:lnTo>
                    <a:pt x="23467" y="0"/>
                  </a:lnTo>
                  <a:cubicBezTo>
                    <a:pt x="36427" y="0"/>
                    <a:pt x="46934" y="10507"/>
                    <a:pt x="46934" y="23467"/>
                  </a:cubicBezTo>
                  <a:lnTo>
                    <a:pt x="46934" y="23467"/>
                  </a:lnTo>
                  <a:cubicBezTo>
                    <a:pt x="46934" y="36427"/>
                    <a:pt x="36427" y="46934"/>
                    <a:pt x="23467" y="46934"/>
                  </a:cubicBezTo>
                  <a:lnTo>
                    <a:pt x="23467" y="46934"/>
                  </a:lnTo>
                  <a:cubicBezTo>
                    <a:pt x="10507" y="46934"/>
                    <a:pt x="0" y="36427"/>
                    <a:pt x="0" y="23467"/>
                  </a:cubicBezTo>
                  <a:lnTo>
                    <a:pt x="0" y="23467"/>
                  </a:lnTo>
                  <a:cubicBezTo>
                    <a:pt x="0" y="10507"/>
                    <a:pt x="10507" y="0"/>
                    <a:pt x="23467" y="0"/>
                  </a:cubicBezTo>
                  <a:close/>
                </a:path>
              </a:pathLst>
            </a:custGeom>
            <a:solidFill>
              <a:srgbClr val="D9FE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46934" cy="123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19457" y="3024119"/>
            <a:ext cx="3171934" cy="5246370"/>
            <a:chOff x="0" y="0"/>
            <a:chExt cx="49141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1416" cy="812800"/>
            </a:xfrm>
            <a:custGeom>
              <a:avLst/>
              <a:gdLst/>
              <a:ahLst/>
              <a:cxnLst/>
              <a:rect r="r" b="b" t="t" l="l"/>
              <a:pathLst>
                <a:path h="812800" w="491416">
                  <a:moveTo>
                    <a:pt x="75663" y="0"/>
                  </a:moveTo>
                  <a:lnTo>
                    <a:pt x="415752" y="0"/>
                  </a:lnTo>
                  <a:cubicBezTo>
                    <a:pt x="435819" y="0"/>
                    <a:pt x="455065" y="7972"/>
                    <a:pt x="469254" y="22161"/>
                  </a:cubicBezTo>
                  <a:cubicBezTo>
                    <a:pt x="483444" y="36351"/>
                    <a:pt x="491416" y="55596"/>
                    <a:pt x="491416" y="75663"/>
                  </a:cubicBezTo>
                  <a:lnTo>
                    <a:pt x="491416" y="737137"/>
                  </a:lnTo>
                  <a:cubicBezTo>
                    <a:pt x="491416" y="778924"/>
                    <a:pt x="457540" y="812800"/>
                    <a:pt x="415752" y="812800"/>
                  </a:cubicBezTo>
                  <a:lnTo>
                    <a:pt x="75663" y="812800"/>
                  </a:lnTo>
                  <a:cubicBezTo>
                    <a:pt x="55596" y="812800"/>
                    <a:pt x="36351" y="804828"/>
                    <a:pt x="22161" y="790639"/>
                  </a:cubicBezTo>
                  <a:cubicBezTo>
                    <a:pt x="7972" y="776449"/>
                    <a:pt x="0" y="757204"/>
                    <a:pt x="0" y="737137"/>
                  </a:cubicBezTo>
                  <a:lnTo>
                    <a:pt x="0" y="75663"/>
                  </a:lnTo>
                  <a:cubicBezTo>
                    <a:pt x="0" y="55596"/>
                    <a:pt x="7972" y="36351"/>
                    <a:pt x="22161" y="22161"/>
                  </a:cubicBezTo>
                  <a:cubicBezTo>
                    <a:pt x="36351" y="7972"/>
                    <a:pt x="55596" y="0"/>
                    <a:pt x="75663" y="0"/>
                  </a:cubicBezTo>
                  <a:close/>
                </a:path>
              </a:pathLst>
            </a:custGeom>
            <a:blipFill>
              <a:blip r:embed="rId8"/>
              <a:stretch>
                <a:fillRect l="-98954" t="0" r="-51177" b="0"/>
              </a:stretch>
            </a:blipFill>
            <a:ln w="161925" cap="rnd">
              <a:solidFill>
                <a:srgbClr val="D9FE54"/>
              </a:solidFill>
              <a:prstDash val="solid"/>
              <a:round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0464950" y="1244716"/>
            <a:ext cx="2180247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SERVICE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22682" y="1244716"/>
            <a:ext cx="244263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ABOUT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63024" y="1244716"/>
            <a:ext cx="1943613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22682" y="2312638"/>
            <a:ext cx="819436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9"/>
              </a:lnSpc>
            </a:pPr>
            <a:r>
              <a:rPr lang="en-US" b="true" sz="5799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ELEMENTOS DE UN SISTEMA DE INFORMACIÓN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58440" y="4694582"/>
            <a:ext cx="3110089" cy="5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25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Hardware</a:t>
            </a:r>
          </a:p>
          <a:p>
            <a:pPr algn="l">
              <a:lnSpc>
                <a:spcPts val="2235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549792" y="3898556"/>
            <a:ext cx="3680166" cy="2387590"/>
            <a:chOff x="0" y="0"/>
            <a:chExt cx="969262" cy="6288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9262" cy="628830"/>
            </a:xfrm>
            <a:custGeom>
              <a:avLst/>
              <a:gdLst/>
              <a:ahLst/>
              <a:cxnLst/>
              <a:rect r="r" b="b" t="t" l="l"/>
              <a:pathLst>
                <a:path h="628830" w="969262">
                  <a:moveTo>
                    <a:pt x="42074" y="0"/>
                  </a:moveTo>
                  <a:lnTo>
                    <a:pt x="927188" y="0"/>
                  </a:lnTo>
                  <a:cubicBezTo>
                    <a:pt x="938347" y="0"/>
                    <a:pt x="949048" y="4433"/>
                    <a:pt x="956939" y="12323"/>
                  </a:cubicBezTo>
                  <a:cubicBezTo>
                    <a:pt x="964829" y="20213"/>
                    <a:pt x="969262" y="30915"/>
                    <a:pt x="969262" y="42074"/>
                  </a:cubicBezTo>
                  <a:lnTo>
                    <a:pt x="969262" y="586756"/>
                  </a:lnTo>
                  <a:cubicBezTo>
                    <a:pt x="969262" y="597915"/>
                    <a:pt x="964829" y="608617"/>
                    <a:pt x="956939" y="616507"/>
                  </a:cubicBezTo>
                  <a:cubicBezTo>
                    <a:pt x="949048" y="624397"/>
                    <a:pt x="938347" y="628830"/>
                    <a:pt x="927188" y="628830"/>
                  </a:cubicBezTo>
                  <a:lnTo>
                    <a:pt x="42074" y="628830"/>
                  </a:lnTo>
                  <a:cubicBezTo>
                    <a:pt x="30915" y="628830"/>
                    <a:pt x="20213" y="624397"/>
                    <a:pt x="12323" y="616507"/>
                  </a:cubicBezTo>
                  <a:cubicBezTo>
                    <a:pt x="4433" y="608617"/>
                    <a:pt x="0" y="597915"/>
                    <a:pt x="0" y="586756"/>
                  </a:cubicBezTo>
                  <a:lnTo>
                    <a:pt x="0" y="42074"/>
                  </a:lnTo>
                  <a:cubicBezTo>
                    <a:pt x="0" y="30915"/>
                    <a:pt x="4433" y="20213"/>
                    <a:pt x="12323" y="12323"/>
                  </a:cubicBezTo>
                  <a:cubicBezTo>
                    <a:pt x="20213" y="4433"/>
                    <a:pt x="30915" y="0"/>
                    <a:pt x="42074" y="0"/>
                  </a:cubicBezTo>
                  <a:close/>
                </a:path>
              </a:pathLst>
            </a:custGeom>
            <a:solidFill>
              <a:srgbClr val="2B37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57150"/>
              <a:ext cx="969262" cy="571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37266" y="4008088"/>
            <a:ext cx="3662663" cy="217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500" b="true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Un sistema de información está compuesto por   cinco elementos principales que trabajan juntos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20534" y="8805990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8" y="0"/>
                </a:lnTo>
                <a:lnTo>
                  <a:pt x="1133938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523129" y="2729331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5" y="0"/>
                </a:lnTo>
                <a:lnTo>
                  <a:pt x="1115035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553406" y="5025675"/>
            <a:ext cx="6798697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</a:p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Es el c</a:t>
            </a: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onjunto de dispositivos físicos que permiten el funcionamiento del sistema.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04018" y="6819076"/>
            <a:ext cx="4122600" cy="2386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Ejemplos:</a:t>
            </a:r>
          </a:p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Computadores</a:t>
            </a:r>
          </a:p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Servidores</a:t>
            </a:r>
          </a:p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Dispositivos de almacenamiento</a:t>
            </a:r>
          </a:p>
          <a:p>
            <a:pPr algn="ctr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Redes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15564" y="7019101"/>
            <a:ext cx="4122600" cy="1986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Los servidores donde se alojan las aplicaciones y las bases de datos de los proyectos.</a:t>
            </a:r>
          </a:p>
          <a:p>
            <a:pPr algn="ctr" marL="0" indent="0" lvl="0">
              <a:lnSpc>
                <a:spcPts val="31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2147" y="1179582"/>
            <a:ext cx="419912" cy="419912"/>
          </a:xfrm>
          <a:custGeom>
            <a:avLst/>
            <a:gdLst/>
            <a:ahLst/>
            <a:cxnLst/>
            <a:rect r="r" b="b" t="t" l="l"/>
            <a:pathLst>
              <a:path h="419912" w="419912">
                <a:moveTo>
                  <a:pt x="0" y="0"/>
                </a:moveTo>
                <a:lnTo>
                  <a:pt x="419912" y="0"/>
                </a:lnTo>
                <a:lnTo>
                  <a:pt x="419912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01993" y="1179582"/>
            <a:ext cx="357307" cy="419912"/>
          </a:xfrm>
          <a:custGeom>
            <a:avLst/>
            <a:gdLst/>
            <a:ahLst/>
            <a:cxnLst/>
            <a:rect r="r" b="b" t="t" l="l"/>
            <a:pathLst>
              <a:path h="419912" w="357307">
                <a:moveTo>
                  <a:pt x="0" y="0"/>
                </a:moveTo>
                <a:lnTo>
                  <a:pt x="357307" y="0"/>
                </a:lnTo>
                <a:lnTo>
                  <a:pt x="357307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86249"/>
            <a:ext cx="358803" cy="539185"/>
          </a:xfrm>
          <a:custGeom>
            <a:avLst/>
            <a:gdLst/>
            <a:ahLst/>
            <a:cxnLst/>
            <a:rect r="r" b="b" t="t" l="l"/>
            <a:pathLst>
              <a:path h="539185" w="358803">
                <a:moveTo>
                  <a:pt x="0" y="0"/>
                </a:moveTo>
                <a:lnTo>
                  <a:pt x="358803" y="0"/>
                </a:lnTo>
                <a:lnTo>
                  <a:pt x="358803" y="539185"/>
                </a:lnTo>
                <a:lnTo>
                  <a:pt x="0" y="539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006638" y="4709685"/>
            <a:ext cx="178202" cy="178202"/>
            <a:chOff x="0" y="0"/>
            <a:chExt cx="46934" cy="469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934" cy="46934"/>
            </a:xfrm>
            <a:custGeom>
              <a:avLst/>
              <a:gdLst/>
              <a:ahLst/>
              <a:cxnLst/>
              <a:rect r="r" b="b" t="t" l="l"/>
              <a:pathLst>
                <a:path h="46934" w="46934">
                  <a:moveTo>
                    <a:pt x="23467" y="0"/>
                  </a:moveTo>
                  <a:lnTo>
                    <a:pt x="23467" y="0"/>
                  </a:lnTo>
                  <a:cubicBezTo>
                    <a:pt x="36427" y="0"/>
                    <a:pt x="46934" y="10507"/>
                    <a:pt x="46934" y="23467"/>
                  </a:cubicBezTo>
                  <a:lnTo>
                    <a:pt x="46934" y="23467"/>
                  </a:lnTo>
                  <a:cubicBezTo>
                    <a:pt x="46934" y="36427"/>
                    <a:pt x="36427" y="46934"/>
                    <a:pt x="23467" y="46934"/>
                  </a:cubicBezTo>
                  <a:lnTo>
                    <a:pt x="23467" y="46934"/>
                  </a:lnTo>
                  <a:cubicBezTo>
                    <a:pt x="10507" y="46934"/>
                    <a:pt x="0" y="36427"/>
                    <a:pt x="0" y="23467"/>
                  </a:cubicBezTo>
                  <a:lnTo>
                    <a:pt x="0" y="23467"/>
                  </a:lnTo>
                  <a:cubicBezTo>
                    <a:pt x="0" y="10507"/>
                    <a:pt x="10507" y="0"/>
                    <a:pt x="23467" y="0"/>
                  </a:cubicBezTo>
                  <a:close/>
                </a:path>
              </a:pathLst>
            </a:custGeom>
            <a:solidFill>
              <a:srgbClr val="D9FE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46934" cy="123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19457" y="3024119"/>
            <a:ext cx="3171934" cy="5246370"/>
            <a:chOff x="0" y="0"/>
            <a:chExt cx="49141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1416" cy="812800"/>
            </a:xfrm>
            <a:custGeom>
              <a:avLst/>
              <a:gdLst/>
              <a:ahLst/>
              <a:cxnLst/>
              <a:rect r="r" b="b" t="t" l="l"/>
              <a:pathLst>
                <a:path h="812800" w="491416">
                  <a:moveTo>
                    <a:pt x="75663" y="0"/>
                  </a:moveTo>
                  <a:lnTo>
                    <a:pt x="415752" y="0"/>
                  </a:lnTo>
                  <a:cubicBezTo>
                    <a:pt x="435819" y="0"/>
                    <a:pt x="455065" y="7972"/>
                    <a:pt x="469254" y="22161"/>
                  </a:cubicBezTo>
                  <a:cubicBezTo>
                    <a:pt x="483444" y="36351"/>
                    <a:pt x="491416" y="55596"/>
                    <a:pt x="491416" y="75663"/>
                  </a:cubicBezTo>
                  <a:lnTo>
                    <a:pt x="491416" y="737137"/>
                  </a:lnTo>
                  <a:cubicBezTo>
                    <a:pt x="491416" y="778924"/>
                    <a:pt x="457540" y="812800"/>
                    <a:pt x="415752" y="812800"/>
                  </a:cubicBezTo>
                  <a:lnTo>
                    <a:pt x="75663" y="812800"/>
                  </a:lnTo>
                  <a:cubicBezTo>
                    <a:pt x="55596" y="812800"/>
                    <a:pt x="36351" y="804828"/>
                    <a:pt x="22161" y="790639"/>
                  </a:cubicBezTo>
                  <a:cubicBezTo>
                    <a:pt x="7972" y="776449"/>
                    <a:pt x="0" y="757204"/>
                    <a:pt x="0" y="737137"/>
                  </a:cubicBezTo>
                  <a:lnTo>
                    <a:pt x="0" y="75663"/>
                  </a:lnTo>
                  <a:cubicBezTo>
                    <a:pt x="0" y="55596"/>
                    <a:pt x="7972" y="36351"/>
                    <a:pt x="22161" y="22161"/>
                  </a:cubicBezTo>
                  <a:cubicBezTo>
                    <a:pt x="36351" y="7972"/>
                    <a:pt x="55596" y="0"/>
                    <a:pt x="75663" y="0"/>
                  </a:cubicBezTo>
                  <a:close/>
                </a:path>
              </a:pathLst>
            </a:custGeom>
            <a:blipFill>
              <a:blip r:embed="rId8"/>
              <a:stretch>
                <a:fillRect l="-98954" t="0" r="-51177" b="0"/>
              </a:stretch>
            </a:blipFill>
            <a:ln w="161925" cap="rnd">
              <a:solidFill>
                <a:srgbClr val="D9FE54"/>
              </a:solidFill>
              <a:prstDash val="solid"/>
              <a:round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0464950" y="1244716"/>
            <a:ext cx="2180247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SERVICE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22682" y="1244716"/>
            <a:ext cx="244263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ABOUT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63024" y="1244716"/>
            <a:ext cx="1943613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22682" y="2312638"/>
            <a:ext cx="819436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9"/>
              </a:lnSpc>
            </a:pPr>
            <a:r>
              <a:rPr lang="en-US" b="true" sz="5799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ELEMENTOS DE UN SISTEMA DE INFORMACIÓN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58440" y="4694582"/>
            <a:ext cx="3110089" cy="58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25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Software</a:t>
            </a:r>
          </a:p>
          <a:p>
            <a:pPr algn="l">
              <a:lnSpc>
                <a:spcPts val="2235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549792" y="3898556"/>
            <a:ext cx="3680166" cy="2387590"/>
            <a:chOff x="0" y="0"/>
            <a:chExt cx="969262" cy="6288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9262" cy="628830"/>
            </a:xfrm>
            <a:custGeom>
              <a:avLst/>
              <a:gdLst/>
              <a:ahLst/>
              <a:cxnLst/>
              <a:rect r="r" b="b" t="t" l="l"/>
              <a:pathLst>
                <a:path h="628830" w="969262">
                  <a:moveTo>
                    <a:pt x="42074" y="0"/>
                  </a:moveTo>
                  <a:lnTo>
                    <a:pt x="927188" y="0"/>
                  </a:lnTo>
                  <a:cubicBezTo>
                    <a:pt x="938347" y="0"/>
                    <a:pt x="949048" y="4433"/>
                    <a:pt x="956939" y="12323"/>
                  </a:cubicBezTo>
                  <a:cubicBezTo>
                    <a:pt x="964829" y="20213"/>
                    <a:pt x="969262" y="30915"/>
                    <a:pt x="969262" y="42074"/>
                  </a:cubicBezTo>
                  <a:lnTo>
                    <a:pt x="969262" y="586756"/>
                  </a:lnTo>
                  <a:cubicBezTo>
                    <a:pt x="969262" y="597915"/>
                    <a:pt x="964829" y="608617"/>
                    <a:pt x="956939" y="616507"/>
                  </a:cubicBezTo>
                  <a:cubicBezTo>
                    <a:pt x="949048" y="624397"/>
                    <a:pt x="938347" y="628830"/>
                    <a:pt x="927188" y="628830"/>
                  </a:cubicBezTo>
                  <a:lnTo>
                    <a:pt x="42074" y="628830"/>
                  </a:lnTo>
                  <a:cubicBezTo>
                    <a:pt x="30915" y="628830"/>
                    <a:pt x="20213" y="624397"/>
                    <a:pt x="12323" y="616507"/>
                  </a:cubicBezTo>
                  <a:cubicBezTo>
                    <a:pt x="4433" y="608617"/>
                    <a:pt x="0" y="597915"/>
                    <a:pt x="0" y="586756"/>
                  </a:cubicBezTo>
                  <a:lnTo>
                    <a:pt x="0" y="42074"/>
                  </a:lnTo>
                  <a:cubicBezTo>
                    <a:pt x="0" y="30915"/>
                    <a:pt x="4433" y="20213"/>
                    <a:pt x="12323" y="12323"/>
                  </a:cubicBezTo>
                  <a:cubicBezTo>
                    <a:pt x="20213" y="4433"/>
                    <a:pt x="30915" y="0"/>
                    <a:pt x="42074" y="0"/>
                  </a:cubicBezTo>
                  <a:close/>
                </a:path>
              </a:pathLst>
            </a:custGeom>
            <a:solidFill>
              <a:srgbClr val="2B37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57150"/>
              <a:ext cx="969262" cy="571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37266" y="4008088"/>
            <a:ext cx="3662663" cy="217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500" b="true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Un sistema de información está compuesto por   cinco elementos principales que trabajan juntos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20534" y="8805990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8" y="0"/>
                </a:lnTo>
                <a:lnTo>
                  <a:pt x="1133938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523129" y="2729331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5" y="0"/>
                </a:lnTo>
                <a:lnTo>
                  <a:pt x="1115035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553406" y="5025675"/>
            <a:ext cx="6798697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</a:p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Son</a:t>
            </a: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l</a:t>
            </a: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os programas o aplicaciones que permiten procesar la información.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04018" y="6819076"/>
            <a:ext cx="4122600" cy="2386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Ejemplos:</a:t>
            </a:r>
          </a:p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 Siste</a:t>
            </a: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mas operativos</a:t>
            </a:r>
          </a:p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Aplicaciones empresariales</a:t>
            </a:r>
          </a:p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 Bases de datos</a:t>
            </a:r>
          </a:p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 Plataformas de gestión</a:t>
            </a:r>
          </a:p>
          <a:p>
            <a:pPr algn="ctr" marL="0" indent="0" lvl="0">
              <a:lnSpc>
                <a:spcPts val="3150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3515564" y="7019101"/>
            <a:ext cx="4122600" cy="1586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Una herramienta de gestión de proyectos como “Jira” o “GitHub” para controlar versiones del código.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2147" y="1179582"/>
            <a:ext cx="419912" cy="419912"/>
          </a:xfrm>
          <a:custGeom>
            <a:avLst/>
            <a:gdLst/>
            <a:ahLst/>
            <a:cxnLst/>
            <a:rect r="r" b="b" t="t" l="l"/>
            <a:pathLst>
              <a:path h="419912" w="419912">
                <a:moveTo>
                  <a:pt x="0" y="0"/>
                </a:moveTo>
                <a:lnTo>
                  <a:pt x="419912" y="0"/>
                </a:lnTo>
                <a:lnTo>
                  <a:pt x="419912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01993" y="1179582"/>
            <a:ext cx="357307" cy="419912"/>
          </a:xfrm>
          <a:custGeom>
            <a:avLst/>
            <a:gdLst/>
            <a:ahLst/>
            <a:cxnLst/>
            <a:rect r="r" b="b" t="t" l="l"/>
            <a:pathLst>
              <a:path h="419912" w="357307">
                <a:moveTo>
                  <a:pt x="0" y="0"/>
                </a:moveTo>
                <a:lnTo>
                  <a:pt x="357307" y="0"/>
                </a:lnTo>
                <a:lnTo>
                  <a:pt x="357307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86249"/>
            <a:ext cx="358803" cy="539185"/>
          </a:xfrm>
          <a:custGeom>
            <a:avLst/>
            <a:gdLst/>
            <a:ahLst/>
            <a:cxnLst/>
            <a:rect r="r" b="b" t="t" l="l"/>
            <a:pathLst>
              <a:path h="539185" w="358803">
                <a:moveTo>
                  <a:pt x="0" y="0"/>
                </a:moveTo>
                <a:lnTo>
                  <a:pt x="358803" y="0"/>
                </a:lnTo>
                <a:lnTo>
                  <a:pt x="358803" y="539185"/>
                </a:lnTo>
                <a:lnTo>
                  <a:pt x="0" y="539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006638" y="4709685"/>
            <a:ext cx="178202" cy="178202"/>
            <a:chOff x="0" y="0"/>
            <a:chExt cx="46934" cy="469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934" cy="46934"/>
            </a:xfrm>
            <a:custGeom>
              <a:avLst/>
              <a:gdLst/>
              <a:ahLst/>
              <a:cxnLst/>
              <a:rect r="r" b="b" t="t" l="l"/>
              <a:pathLst>
                <a:path h="46934" w="46934">
                  <a:moveTo>
                    <a:pt x="23467" y="0"/>
                  </a:moveTo>
                  <a:lnTo>
                    <a:pt x="23467" y="0"/>
                  </a:lnTo>
                  <a:cubicBezTo>
                    <a:pt x="36427" y="0"/>
                    <a:pt x="46934" y="10507"/>
                    <a:pt x="46934" y="23467"/>
                  </a:cubicBezTo>
                  <a:lnTo>
                    <a:pt x="46934" y="23467"/>
                  </a:lnTo>
                  <a:cubicBezTo>
                    <a:pt x="46934" y="36427"/>
                    <a:pt x="36427" y="46934"/>
                    <a:pt x="23467" y="46934"/>
                  </a:cubicBezTo>
                  <a:lnTo>
                    <a:pt x="23467" y="46934"/>
                  </a:lnTo>
                  <a:cubicBezTo>
                    <a:pt x="10507" y="46934"/>
                    <a:pt x="0" y="36427"/>
                    <a:pt x="0" y="23467"/>
                  </a:cubicBezTo>
                  <a:lnTo>
                    <a:pt x="0" y="23467"/>
                  </a:lnTo>
                  <a:cubicBezTo>
                    <a:pt x="0" y="10507"/>
                    <a:pt x="10507" y="0"/>
                    <a:pt x="23467" y="0"/>
                  </a:cubicBezTo>
                  <a:close/>
                </a:path>
              </a:pathLst>
            </a:custGeom>
            <a:solidFill>
              <a:srgbClr val="D9FE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46934" cy="123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19457" y="3024119"/>
            <a:ext cx="3171934" cy="5246370"/>
            <a:chOff x="0" y="0"/>
            <a:chExt cx="49141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1416" cy="812800"/>
            </a:xfrm>
            <a:custGeom>
              <a:avLst/>
              <a:gdLst/>
              <a:ahLst/>
              <a:cxnLst/>
              <a:rect r="r" b="b" t="t" l="l"/>
              <a:pathLst>
                <a:path h="812800" w="491416">
                  <a:moveTo>
                    <a:pt x="75663" y="0"/>
                  </a:moveTo>
                  <a:lnTo>
                    <a:pt x="415752" y="0"/>
                  </a:lnTo>
                  <a:cubicBezTo>
                    <a:pt x="435819" y="0"/>
                    <a:pt x="455065" y="7972"/>
                    <a:pt x="469254" y="22161"/>
                  </a:cubicBezTo>
                  <a:cubicBezTo>
                    <a:pt x="483444" y="36351"/>
                    <a:pt x="491416" y="55596"/>
                    <a:pt x="491416" y="75663"/>
                  </a:cubicBezTo>
                  <a:lnTo>
                    <a:pt x="491416" y="737137"/>
                  </a:lnTo>
                  <a:cubicBezTo>
                    <a:pt x="491416" y="778924"/>
                    <a:pt x="457540" y="812800"/>
                    <a:pt x="415752" y="812800"/>
                  </a:cubicBezTo>
                  <a:lnTo>
                    <a:pt x="75663" y="812800"/>
                  </a:lnTo>
                  <a:cubicBezTo>
                    <a:pt x="55596" y="812800"/>
                    <a:pt x="36351" y="804828"/>
                    <a:pt x="22161" y="790639"/>
                  </a:cubicBezTo>
                  <a:cubicBezTo>
                    <a:pt x="7972" y="776449"/>
                    <a:pt x="0" y="757204"/>
                    <a:pt x="0" y="737137"/>
                  </a:cubicBezTo>
                  <a:lnTo>
                    <a:pt x="0" y="75663"/>
                  </a:lnTo>
                  <a:cubicBezTo>
                    <a:pt x="0" y="55596"/>
                    <a:pt x="7972" y="36351"/>
                    <a:pt x="22161" y="22161"/>
                  </a:cubicBezTo>
                  <a:cubicBezTo>
                    <a:pt x="36351" y="7972"/>
                    <a:pt x="55596" y="0"/>
                    <a:pt x="75663" y="0"/>
                  </a:cubicBezTo>
                  <a:close/>
                </a:path>
              </a:pathLst>
            </a:custGeom>
            <a:blipFill>
              <a:blip r:embed="rId8"/>
              <a:stretch>
                <a:fillRect l="-98954" t="0" r="-51177" b="0"/>
              </a:stretch>
            </a:blipFill>
            <a:ln w="161925" cap="rnd">
              <a:solidFill>
                <a:srgbClr val="D9FE54"/>
              </a:solidFill>
              <a:prstDash val="solid"/>
              <a:round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0464950" y="1244716"/>
            <a:ext cx="2180247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SERVICE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22682" y="1244716"/>
            <a:ext cx="244263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ABOUT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63024" y="1244716"/>
            <a:ext cx="1943613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22682" y="2312638"/>
            <a:ext cx="819436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9"/>
              </a:lnSpc>
            </a:pPr>
            <a:r>
              <a:rPr lang="en-US" b="true" sz="5799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ELEMENTOS DE UN SISTEMA DE INFORMACIÓN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58440" y="4694582"/>
            <a:ext cx="3110089" cy="31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25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Datos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49792" y="3898556"/>
            <a:ext cx="3680166" cy="2387590"/>
            <a:chOff x="0" y="0"/>
            <a:chExt cx="969262" cy="6288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9262" cy="628830"/>
            </a:xfrm>
            <a:custGeom>
              <a:avLst/>
              <a:gdLst/>
              <a:ahLst/>
              <a:cxnLst/>
              <a:rect r="r" b="b" t="t" l="l"/>
              <a:pathLst>
                <a:path h="628830" w="969262">
                  <a:moveTo>
                    <a:pt x="42074" y="0"/>
                  </a:moveTo>
                  <a:lnTo>
                    <a:pt x="927188" y="0"/>
                  </a:lnTo>
                  <a:cubicBezTo>
                    <a:pt x="938347" y="0"/>
                    <a:pt x="949048" y="4433"/>
                    <a:pt x="956939" y="12323"/>
                  </a:cubicBezTo>
                  <a:cubicBezTo>
                    <a:pt x="964829" y="20213"/>
                    <a:pt x="969262" y="30915"/>
                    <a:pt x="969262" y="42074"/>
                  </a:cubicBezTo>
                  <a:lnTo>
                    <a:pt x="969262" y="586756"/>
                  </a:lnTo>
                  <a:cubicBezTo>
                    <a:pt x="969262" y="597915"/>
                    <a:pt x="964829" y="608617"/>
                    <a:pt x="956939" y="616507"/>
                  </a:cubicBezTo>
                  <a:cubicBezTo>
                    <a:pt x="949048" y="624397"/>
                    <a:pt x="938347" y="628830"/>
                    <a:pt x="927188" y="628830"/>
                  </a:cubicBezTo>
                  <a:lnTo>
                    <a:pt x="42074" y="628830"/>
                  </a:lnTo>
                  <a:cubicBezTo>
                    <a:pt x="30915" y="628830"/>
                    <a:pt x="20213" y="624397"/>
                    <a:pt x="12323" y="616507"/>
                  </a:cubicBezTo>
                  <a:cubicBezTo>
                    <a:pt x="4433" y="608617"/>
                    <a:pt x="0" y="597915"/>
                    <a:pt x="0" y="586756"/>
                  </a:cubicBezTo>
                  <a:lnTo>
                    <a:pt x="0" y="42074"/>
                  </a:lnTo>
                  <a:cubicBezTo>
                    <a:pt x="0" y="30915"/>
                    <a:pt x="4433" y="20213"/>
                    <a:pt x="12323" y="12323"/>
                  </a:cubicBezTo>
                  <a:cubicBezTo>
                    <a:pt x="20213" y="4433"/>
                    <a:pt x="30915" y="0"/>
                    <a:pt x="42074" y="0"/>
                  </a:cubicBezTo>
                  <a:close/>
                </a:path>
              </a:pathLst>
            </a:custGeom>
            <a:solidFill>
              <a:srgbClr val="2B37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57150"/>
              <a:ext cx="969262" cy="571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37266" y="4059237"/>
            <a:ext cx="3662663" cy="217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500" b="true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Un sistema de información está compuesto por   cinco elementos principales que trabajan juntos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20534" y="8805990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8" y="0"/>
                </a:lnTo>
                <a:lnTo>
                  <a:pt x="1133938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523129" y="2729331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5" y="0"/>
                </a:lnTo>
                <a:lnTo>
                  <a:pt x="1115035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553406" y="5025675"/>
            <a:ext cx="6798697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Los</a:t>
            </a: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dat</a:t>
            </a: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os son la materia prima del sistema de información.</a:t>
            </a:r>
          </a:p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8304018" y="6819076"/>
            <a:ext cx="4122600" cy="1986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Ejemplos:</a:t>
            </a:r>
          </a:p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 Información de</a:t>
            </a: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 clientes</a:t>
            </a:r>
          </a:p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 Datos de proyectos</a:t>
            </a:r>
          </a:p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 Registros de actividades</a:t>
            </a:r>
          </a:p>
          <a:p>
            <a:pPr algn="ctr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 Reportes de rendimiento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15564" y="7019101"/>
            <a:ext cx="4122600" cy="1986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Una base de datos con información sobre los proyectos de software, tareas asignadas y tiempos de desarrollo.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2147" y="1179582"/>
            <a:ext cx="419912" cy="419912"/>
          </a:xfrm>
          <a:custGeom>
            <a:avLst/>
            <a:gdLst/>
            <a:ahLst/>
            <a:cxnLst/>
            <a:rect r="r" b="b" t="t" l="l"/>
            <a:pathLst>
              <a:path h="419912" w="419912">
                <a:moveTo>
                  <a:pt x="0" y="0"/>
                </a:moveTo>
                <a:lnTo>
                  <a:pt x="419912" y="0"/>
                </a:lnTo>
                <a:lnTo>
                  <a:pt x="419912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01993" y="1179582"/>
            <a:ext cx="357307" cy="419912"/>
          </a:xfrm>
          <a:custGeom>
            <a:avLst/>
            <a:gdLst/>
            <a:ahLst/>
            <a:cxnLst/>
            <a:rect r="r" b="b" t="t" l="l"/>
            <a:pathLst>
              <a:path h="419912" w="357307">
                <a:moveTo>
                  <a:pt x="0" y="0"/>
                </a:moveTo>
                <a:lnTo>
                  <a:pt x="357307" y="0"/>
                </a:lnTo>
                <a:lnTo>
                  <a:pt x="357307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86249"/>
            <a:ext cx="358803" cy="539185"/>
          </a:xfrm>
          <a:custGeom>
            <a:avLst/>
            <a:gdLst/>
            <a:ahLst/>
            <a:cxnLst/>
            <a:rect r="r" b="b" t="t" l="l"/>
            <a:pathLst>
              <a:path h="539185" w="358803">
                <a:moveTo>
                  <a:pt x="0" y="0"/>
                </a:moveTo>
                <a:lnTo>
                  <a:pt x="358803" y="0"/>
                </a:lnTo>
                <a:lnTo>
                  <a:pt x="358803" y="539185"/>
                </a:lnTo>
                <a:lnTo>
                  <a:pt x="0" y="539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006638" y="4709685"/>
            <a:ext cx="178202" cy="178202"/>
            <a:chOff x="0" y="0"/>
            <a:chExt cx="46934" cy="469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934" cy="46934"/>
            </a:xfrm>
            <a:custGeom>
              <a:avLst/>
              <a:gdLst/>
              <a:ahLst/>
              <a:cxnLst/>
              <a:rect r="r" b="b" t="t" l="l"/>
              <a:pathLst>
                <a:path h="46934" w="46934">
                  <a:moveTo>
                    <a:pt x="23467" y="0"/>
                  </a:moveTo>
                  <a:lnTo>
                    <a:pt x="23467" y="0"/>
                  </a:lnTo>
                  <a:cubicBezTo>
                    <a:pt x="36427" y="0"/>
                    <a:pt x="46934" y="10507"/>
                    <a:pt x="46934" y="23467"/>
                  </a:cubicBezTo>
                  <a:lnTo>
                    <a:pt x="46934" y="23467"/>
                  </a:lnTo>
                  <a:cubicBezTo>
                    <a:pt x="46934" y="36427"/>
                    <a:pt x="36427" y="46934"/>
                    <a:pt x="23467" y="46934"/>
                  </a:cubicBezTo>
                  <a:lnTo>
                    <a:pt x="23467" y="46934"/>
                  </a:lnTo>
                  <a:cubicBezTo>
                    <a:pt x="10507" y="46934"/>
                    <a:pt x="0" y="36427"/>
                    <a:pt x="0" y="23467"/>
                  </a:cubicBezTo>
                  <a:lnTo>
                    <a:pt x="0" y="23467"/>
                  </a:lnTo>
                  <a:cubicBezTo>
                    <a:pt x="0" y="10507"/>
                    <a:pt x="10507" y="0"/>
                    <a:pt x="23467" y="0"/>
                  </a:cubicBezTo>
                  <a:close/>
                </a:path>
              </a:pathLst>
            </a:custGeom>
            <a:solidFill>
              <a:srgbClr val="D9FE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46934" cy="123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19457" y="3024119"/>
            <a:ext cx="3171934" cy="5246370"/>
            <a:chOff x="0" y="0"/>
            <a:chExt cx="49141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1416" cy="812800"/>
            </a:xfrm>
            <a:custGeom>
              <a:avLst/>
              <a:gdLst/>
              <a:ahLst/>
              <a:cxnLst/>
              <a:rect r="r" b="b" t="t" l="l"/>
              <a:pathLst>
                <a:path h="812800" w="491416">
                  <a:moveTo>
                    <a:pt x="75663" y="0"/>
                  </a:moveTo>
                  <a:lnTo>
                    <a:pt x="415752" y="0"/>
                  </a:lnTo>
                  <a:cubicBezTo>
                    <a:pt x="435819" y="0"/>
                    <a:pt x="455065" y="7972"/>
                    <a:pt x="469254" y="22161"/>
                  </a:cubicBezTo>
                  <a:cubicBezTo>
                    <a:pt x="483444" y="36351"/>
                    <a:pt x="491416" y="55596"/>
                    <a:pt x="491416" y="75663"/>
                  </a:cubicBezTo>
                  <a:lnTo>
                    <a:pt x="491416" y="737137"/>
                  </a:lnTo>
                  <a:cubicBezTo>
                    <a:pt x="491416" y="778924"/>
                    <a:pt x="457540" y="812800"/>
                    <a:pt x="415752" y="812800"/>
                  </a:cubicBezTo>
                  <a:lnTo>
                    <a:pt x="75663" y="812800"/>
                  </a:lnTo>
                  <a:cubicBezTo>
                    <a:pt x="55596" y="812800"/>
                    <a:pt x="36351" y="804828"/>
                    <a:pt x="22161" y="790639"/>
                  </a:cubicBezTo>
                  <a:cubicBezTo>
                    <a:pt x="7972" y="776449"/>
                    <a:pt x="0" y="757204"/>
                    <a:pt x="0" y="737137"/>
                  </a:cubicBezTo>
                  <a:lnTo>
                    <a:pt x="0" y="75663"/>
                  </a:lnTo>
                  <a:cubicBezTo>
                    <a:pt x="0" y="55596"/>
                    <a:pt x="7972" y="36351"/>
                    <a:pt x="22161" y="22161"/>
                  </a:cubicBezTo>
                  <a:cubicBezTo>
                    <a:pt x="36351" y="7972"/>
                    <a:pt x="55596" y="0"/>
                    <a:pt x="75663" y="0"/>
                  </a:cubicBezTo>
                  <a:close/>
                </a:path>
              </a:pathLst>
            </a:custGeom>
            <a:blipFill>
              <a:blip r:embed="rId8"/>
              <a:stretch>
                <a:fillRect l="-98954" t="0" r="-51177" b="0"/>
              </a:stretch>
            </a:blipFill>
            <a:ln w="161925" cap="rnd">
              <a:solidFill>
                <a:srgbClr val="D9FE54"/>
              </a:solidFill>
              <a:prstDash val="solid"/>
              <a:round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0464950" y="1244716"/>
            <a:ext cx="2180247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SERVICE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22682" y="1244716"/>
            <a:ext cx="244263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ABOUT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63024" y="1244716"/>
            <a:ext cx="1943613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22682" y="2312638"/>
            <a:ext cx="819436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9"/>
              </a:lnSpc>
            </a:pPr>
            <a:r>
              <a:rPr lang="en-US" b="true" sz="5799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ELEMENTOS DE UN SISTEMA DE INFORMACIÓN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58440" y="4694582"/>
            <a:ext cx="3110089" cy="31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25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Procesos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49792" y="3898556"/>
            <a:ext cx="3680166" cy="2387590"/>
            <a:chOff x="0" y="0"/>
            <a:chExt cx="969262" cy="6288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9262" cy="628830"/>
            </a:xfrm>
            <a:custGeom>
              <a:avLst/>
              <a:gdLst/>
              <a:ahLst/>
              <a:cxnLst/>
              <a:rect r="r" b="b" t="t" l="l"/>
              <a:pathLst>
                <a:path h="628830" w="969262">
                  <a:moveTo>
                    <a:pt x="42074" y="0"/>
                  </a:moveTo>
                  <a:lnTo>
                    <a:pt x="927188" y="0"/>
                  </a:lnTo>
                  <a:cubicBezTo>
                    <a:pt x="938347" y="0"/>
                    <a:pt x="949048" y="4433"/>
                    <a:pt x="956939" y="12323"/>
                  </a:cubicBezTo>
                  <a:cubicBezTo>
                    <a:pt x="964829" y="20213"/>
                    <a:pt x="969262" y="30915"/>
                    <a:pt x="969262" y="42074"/>
                  </a:cubicBezTo>
                  <a:lnTo>
                    <a:pt x="969262" y="586756"/>
                  </a:lnTo>
                  <a:cubicBezTo>
                    <a:pt x="969262" y="597915"/>
                    <a:pt x="964829" y="608617"/>
                    <a:pt x="956939" y="616507"/>
                  </a:cubicBezTo>
                  <a:cubicBezTo>
                    <a:pt x="949048" y="624397"/>
                    <a:pt x="938347" y="628830"/>
                    <a:pt x="927188" y="628830"/>
                  </a:cubicBezTo>
                  <a:lnTo>
                    <a:pt x="42074" y="628830"/>
                  </a:lnTo>
                  <a:cubicBezTo>
                    <a:pt x="30915" y="628830"/>
                    <a:pt x="20213" y="624397"/>
                    <a:pt x="12323" y="616507"/>
                  </a:cubicBezTo>
                  <a:cubicBezTo>
                    <a:pt x="4433" y="608617"/>
                    <a:pt x="0" y="597915"/>
                    <a:pt x="0" y="586756"/>
                  </a:cubicBezTo>
                  <a:lnTo>
                    <a:pt x="0" y="42074"/>
                  </a:lnTo>
                  <a:cubicBezTo>
                    <a:pt x="0" y="30915"/>
                    <a:pt x="4433" y="20213"/>
                    <a:pt x="12323" y="12323"/>
                  </a:cubicBezTo>
                  <a:cubicBezTo>
                    <a:pt x="20213" y="4433"/>
                    <a:pt x="30915" y="0"/>
                    <a:pt x="42074" y="0"/>
                  </a:cubicBezTo>
                  <a:close/>
                </a:path>
              </a:pathLst>
            </a:custGeom>
            <a:solidFill>
              <a:srgbClr val="2B37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57150"/>
              <a:ext cx="969262" cy="571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37266" y="4008088"/>
            <a:ext cx="3662663" cy="217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500" b="true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Un sistema de información está compuesto por   cinco elementos principales que trabajan juntos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20534" y="8805990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8" y="0"/>
                </a:lnTo>
                <a:lnTo>
                  <a:pt x="1133938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523129" y="2729331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5" y="0"/>
                </a:lnTo>
                <a:lnTo>
                  <a:pt x="1115035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553406" y="5025675"/>
            <a:ext cx="6798697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Son los</a:t>
            </a: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procedimient</a:t>
            </a: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os o reglas que indican cómo se debe manejar la información.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04018" y="6819076"/>
            <a:ext cx="4122600" cy="1586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Ejemplos:</a:t>
            </a:r>
          </a:p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 Métod</a:t>
            </a: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os de trabajo</a:t>
            </a:r>
          </a:p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 Normas internas</a:t>
            </a:r>
          </a:p>
          <a:p>
            <a:pPr algn="ctr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 Flujos de procesos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15564" y="7019101"/>
            <a:ext cx="4122600" cy="1986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El proceso que sigue una empresa para registrar un error en el software, asignarlo a un desarrollador y verificar su solución.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2147" y="1179582"/>
            <a:ext cx="419912" cy="419912"/>
          </a:xfrm>
          <a:custGeom>
            <a:avLst/>
            <a:gdLst/>
            <a:ahLst/>
            <a:cxnLst/>
            <a:rect r="r" b="b" t="t" l="l"/>
            <a:pathLst>
              <a:path h="419912" w="419912">
                <a:moveTo>
                  <a:pt x="0" y="0"/>
                </a:moveTo>
                <a:lnTo>
                  <a:pt x="419912" y="0"/>
                </a:lnTo>
                <a:lnTo>
                  <a:pt x="419912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01993" y="1179582"/>
            <a:ext cx="357307" cy="419912"/>
          </a:xfrm>
          <a:custGeom>
            <a:avLst/>
            <a:gdLst/>
            <a:ahLst/>
            <a:cxnLst/>
            <a:rect r="r" b="b" t="t" l="l"/>
            <a:pathLst>
              <a:path h="419912" w="357307">
                <a:moveTo>
                  <a:pt x="0" y="0"/>
                </a:moveTo>
                <a:lnTo>
                  <a:pt x="357307" y="0"/>
                </a:lnTo>
                <a:lnTo>
                  <a:pt x="357307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86249"/>
            <a:ext cx="358803" cy="539185"/>
          </a:xfrm>
          <a:custGeom>
            <a:avLst/>
            <a:gdLst/>
            <a:ahLst/>
            <a:cxnLst/>
            <a:rect r="r" b="b" t="t" l="l"/>
            <a:pathLst>
              <a:path h="539185" w="358803">
                <a:moveTo>
                  <a:pt x="0" y="0"/>
                </a:moveTo>
                <a:lnTo>
                  <a:pt x="358803" y="0"/>
                </a:lnTo>
                <a:lnTo>
                  <a:pt x="358803" y="539185"/>
                </a:lnTo>
                <a:lnTo>
                  <a:pt x="0" y="539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67806" y="2792654"/>
            <a:ext cx="7984411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b="true" sz="5999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OBJETIVOS DE UN SISTEMA DE INFORMACIÓN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348607" y="2286529"/>
            <a:ext cx="4799551" cy="479955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7372" y="17372"/>
              <a:ext cx="778056" cy="778056"/>
            </a:xfrm>
            <a:custGeom>
              <a:avLst/>
              <a:gdLst/>
              <a:ahLst/>
              <a:cxnLst/>
              <a:rect r="r" b="b" t="t" l="l"/>
              <a:pathLst>
                <a:path h="778056" w="778056">
                  <a:moveTo>
                    <a:pt x="418684" y="12284"/>
                  </a:moveTo>
                  <a:lnTo>
                    <a:pt x="765772" y="359372"/>
                  </a:lnTo>
                  <a:cubicBezTo>
                    <a:pt x="773638" y="367238"/>
                    <a:pt x="778056" y="377905"/>
                    <a:pt x="778056" y="389028"/>
                  </a:cubicBezTo>
                  <a:cubicBezTo>
                    <a:pt x="778056" y="400151"/>
                    <a:pt x="773638" y="410818"/>
                    <a:pt x="765772" y="418684"/>
                  </a:cubicBezTo>
                  <a:lnTo>
                    <a:pt x="418684" y="765772"/>
                  </a:lnTo>
                  <a:cubicBezTo>
                    <a:pt x="410818" y="773638"/>
                    <a:pt x="400151" y="778056"/>
                    <a:pt x="389028" y="778056"/>
                  </a:cubicBezTo>
                  <a:cubicBezTo>
                    <a:pt x="377905" y="778056"/>
                    <a:pt x="367238" y="773638"/>
                    <a:pt x="359372" y="765772"/>
                  </a:cubicBezTo>
                  <a:lnTo>
                    <a:pt x="12284" y="418684"/>
                  </a:lnTo>
                  <a:cubicBezTo>
                    <a:pt x="4418" y="410818"/>
                    <a:pt x="0" y="400151"/>
                    <a:pt x="0" y="389028"/>
                  </a:cubicBezTo>
                  <a:cubicBezTo>
                    <a:pt x="0" y="377905"/>
                    <a:pt x="4418" y="367238"/>
                    <a:pt x="12284" y="359372"/>
                  </a:cubicBezTo>
                  <a:lnTo>
                    <a:pt x="359372" y="12284"/>
                  </a:lnTo>
                  <a:cubicBezTo>
                    <a:pt x="367238" y="4418"/>
                    <a:pt x="377905" y="0"/>
                    <a:pt x="389028" y="0"/>
                  </a:cubicBezTo>
                  <a:cubicBezTo>
                    <a:pt x="400151" y="0"/>
                    <a:pt x="410818" y="4418"/>
                    <a:pt x="418684" y="12284"/>
                  </a:cubicBezTo>
                  <a:close/>
                </a:path>
              </a:pathLst>
            </a:custGeom>
            <a:blipFill>
              <a:blip r:embed="rId8"/>
              <a:stretch>
                <a:fillRect l="-25046" t="0" r="-25046" b="0"/>
              </a:stretch>
            </a:blipFill>
            <a:ln w="190500" cap="rnd">
              <a:solidFill>
                <a:srgbClr val="D9FE54"/>
              </a:soli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32693" y="6629697"/>
            <a:ext cx="4799551" cy="479955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7372" y="17372"/>
              <a:ext cx="778056" cy="778056"/>
            </a:xfrm>
            <a:custGeom>
              <a:avLst/>
              <a:gdLst/>
              <a:ahLst/>
              <a:cxnLst/>
              <a:rect r="r" b="b" t="t" l="l"/>
              <a:pathLst>
                <a:path h="778056" w="778056">
                  <a:moveTo>
                    <a:pt x="418684" y="12284"/>
                  </a:moveTo>
                  <a:lnTo>
                    <a:pt x="765772" y="359372"/>
                  </a:lnTo>
                  <a:cubicBezTo>
                    <a:pt x="773638" y="367238"/>
                    <a:pt x="778056" y="377905"/>
                    <a:pt x="778056" y="389028"/>
                  </a:cubicBezTo>
                  <a:cubicBezTo>
                    <a:pt x="778056" y="400151"/>
                    <a:pt x="773638" y="410818"/>
                    <a:pt x="765772" y="418684"/>
                  </a:cubicBezTo>
                  <a:lnTo>
                    <a:pt x="418684" y="765772"/>
                  </a:lnTo>
                  <a:cubicBezTo>
                    <a:pt x="410818" y="773638"/>
                    <a:pt x="400151" y="778056"/>
                    <a:pt x="389028" y="778056"/>
                  </a:cubicBezTo>
                  <a:cubicBezTo>
                    <a:pt x="377905" y="778056"/>
                    <a:pt x="367238" y="773638"/>
                    <a:pt x="359372" y="765772"/>
                  </a:cubicBezTo>
                  <a:lnTo>
                    <a:pt x="12284" y="418684"/>
                  </a:lnTo>
                  <a:cubicBezTo>
                    <a:pt x="4418" y="410818"/>
                    <a:pt x="0" y="400151"/>
                    <a:pt x="0" y="389028"/>
                  </a:cubicBezTo>
                  <a:cubicBezTo>
                    <a:pt x="0" y="377905"/>
                    <a:pt x="4418" y="367238"/>
                    <a:pt x="12284" y="359372"/>
                  </a:cubicBezTo>
                  <a:lnTo>
                    <a:pt x="359372" y="12284"/>
                  </a:lnTo>
                  <a:cubicBezTo>
                    <a:pt x="367238" y="4418"/>
                    <a:pt x="377905" y="0"/>
                    <a:pt x="389028" y="0"/>
                  </a:cubicBezTo>
                  <a:cubicBezTo>
                    <a:pt x="400151" y="0"/>
                    <a:pt x="410818" y="4418"/>
                    <a:pt x="418684" y="12284"/>
                  </a:cubicBezTo>
                  <a:close/>
                </a:path>
              </a:pathLst>
            </a:custGeom>
            <a:blipFill>
              <a:blip r:embed="rId9"/>
              <a:stretch>
                <a:fillRect l="-25046" t="0" r="-25046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-1746081" y="3763506"/>
            <a:ext cx="4799551" cy="479955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7372" y="17372"/>
              <a:ext cx="778056" cy="778056"/>
            </a:xfrm>
            <a:custGeom>
              <a:avLst/>
              <a:gdLst/>
              <a:ahLst/>
              <a:cxnLst/>
              <a:rect r="r" b="b" t="t" l="l"/>
              <a:pathLst>
                <a:path h="778056" w="778056">
                  <a:moveTo>
                    <a:pt x="418684" y="12284"/>
                  </a:moveTo>
                  <a:lnTo>
                    <a:pt x="765772" y="359372"/>
                  </a:lnTo>
                  <a:cubicBezTo>
                    <a:pt x="773638" y="367238"/>
                    <a:pt x="778056" y="377905"/>
                    <a:pt x="778056" y="389028"/>
                  </a:cubicBezTo>
                  <a:cubicBezTo>
                    <a:pt x="778056" y="400151"/>
                    <a:pt x="773638" y="410818"/>
                    <a:pt x="765772" y="418684"/>
                  </a:cubicBezTo>
                  <a:lnTo>
                    <a:pt x="418684" y="765772"/>
                  </a:lnTo>
                  <a:cubicBezTo>
                    <a:pt x="410818" y="773638"/>
                    <a:pt x="400151" y="778056"/>
                    <a:pt x="389028" y="778056"/>
                  </a:cubicBezTo>
                  <a:cubicBezTo>
                    <a:pt x="377905" y="778056"/>
                    <a:pt x="367238" y="773638"/>
                    <a:pt x="359372" y="765772"/>
                  </a:cubicBezTo>
                  <a:lnTo>
                    <a:pt x="12284" y="418684"/>
                  </a:lnTo>
                  <a:cubicBezTo>
                    <a:pt x="4418" y="410818"/>
                    <a:pt x="0" y="400151"/>
                    <a:pt x="0" y="389028"/>
                  </a:cubicBezTo>
                  <a:cubicBezTo>
                    <a:pt x="0" y="377905"/>
                    <a:pt x="4418" y="367238"/>
                    <a:pt x="12284" y="359372"/>
                  </a:cubicBezTo>
                  <a:lnTo>
                    <a:pt x="359372" y="12284"/>
                  </a:lnTo>
                  <a:cubicBezTo>
                    <a:pt x="367238" y="4418"/>
                    <a:pt x="377905" y="0"/>
                    <a:pt x="389028" y="0"/>
                  </a:cubicBezTo>
                  <a:cubicBezTo>
                    <a:pt x="400151" y="0"/>
                    <a:pt x="410818" y="4418"/>
                    <a:pt x="418684" y="12284"/>
                  </a:cubicBezTo>
                  <a:close/>
                </a:path>
              </a:pathLst>
            </a:custGeom>
            <a:blipFill>
              <a:blip r:embed="rId10"/>
              <a:stretch>
                <a:fillRect l="-25471" t="0" r="-25471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775591" y="6163282"/>
            <a:ext cx="4984420" cy="2659343"/>
            <a:chOff x="0" y="0"/>
            <a:chExt cx="1312769" cy="7004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2769" cy="700403"/>
            </a:xfrm>
            <a:custGeom>
              <a:avLst/>
              <a:gdLst/>
              <a:ahLst/>
              <a:cxnLst/>
              <a:rect r="r" b="b" t="t" l="l"/>
              <a:pathLst>
                <a:path h="700403" w="1312769">
                  <a:moveTo>
                    <a:pt x="31064" y="0"/>
                  </a:moveTo>
                  <a:lnTo>
                    <a:pt x="1281705" y="0"/>
                  </a:lnTo>
                  <a:cubicBezTo>
                    <a:pt x="1298861" y="0"/>
                    <a:pt x="1312769" y="13908"/>
                    <a:pt x="1312769" y="31064"/>
                  </a:cubicBezTo>
                  <a:lnTo>
                    <a:pt x="1312769" y="669339"/>
                  </a:lnTo>
                  <a:cubicBezTo>
                    <a:pt x="1312769" y="677577"/>
                    <a:pt x="1309496" y="685479"/>
                    <a:pt x="1303670" y="691304"/>
                  </a:cubicBezTo>
                  <a:cubicBezTo>
                    <a:pt x="1297845" y="697130"/>
                    <a:pt x="1289943" y="700403"/>
                    <a:pt x="1281705" y="700403"/>
                  </a:cubicBezTo>
                  <a:lnTo>
                    <a:pt x="31064" y="700403"/>
                  </a:lnTo>
                  <a:cubicBezTo>
                    <a:pt x="22826" y="700403"/>
                    <a:pt x="14924" y="697130"/>
                    <a:pt x="9099" y="691304"/>
                  </a:cubicBezTo>
                  <a:cubicBezTo>
                    <a:pt x="3273" y="685479"/>
                    <a:pt x="0" y="677577"/>
                    <a:pt x="0" y="669339"/>
                  </a:cubicBezTo>
                  <a:lnTo>
                    <a:pt x="0" y="31064"/>
                  </a:lnTo>
                  <a:cubicBezTo>
                    <a:pt x="0" y="22826"/>
                    <a:pt x="3273" y="14924"/>
                    <a:pt x="9099" y="9099"/>
                  </a:cubicBezTo>
                  <a:cubicBezTo>
                    <a:pt x="14924" y="3273"/>
                    <a:pt x="22826" y="0"/>
                    <a:pt x="31064" y="0"/>
                  </a:cubicBezTo>
                  <a:close/>
                </a:path>
              </a:pathLst>
            </a:custGeom>
            <a:solidFill>
              <a:srgbClr val="2B37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57150"/>
              <a:ext cx="1312769" cy="643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034831" y="6270174"/>
            <a:ext cx="4406915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Apoyar la toma de decisiones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39459" y="6270740"/>
            <a:ext cx="370268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Mejorar la eficiencia de la empresa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70082" y="7237914"/>
            <a:ext cx="3830691" cy="112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Permiten analizar información para tomar decisiones más acertadas.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39459" y="7237914"/>
            <a:ext cx="4122600" cy="74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Ayudan a optimizar el uso de recursos y reducir errores.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64950" y="1244716"/>
            <a:ext cx="2180247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SERVICE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922682" y="1244716"/>
            <a:ext cx="244263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ABOUT US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63024" y="1244716"/>
            <a:ext cx="1943613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HOME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360010" y="8571413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9" y="0"/>
                </a:lnTo>
                <a:lnTo>
                  <a:pt x="1133939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159446" y="4553925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6" y="0"/>
                </a:lnTo>
                <a:lnTo>
                  <a:pt x="1115036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2147" y="1179582"/>
            <a:ext cx="419912" cy="419912"/>
          </a:xfrm>
          <a:custGeom>
            <a:avLst/>
            <a:gdLst/>
            <a:ahLst/>
            <a:cxnLst/>
            <a:rect r="r" b="b" t="t" l="l"/>
            <a:pathLst>
              <a:path h="419912" w="419912">
                <a:moveTo>
                  <a:pt x="0" y="0"/>
                </a:moveTo>
                <a:lnTo>
                  <a:pt x="419912" y="0"/>
                </a:lnTo>
                <a:lnTo>
                  <a:pt x="419912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01993" y="1179582"/>
            <a:ext cx="357307" cy="419912"/>
          </a:xfrm>
          <a:custGeom>
            <a:avLst/>
            <a:gdLst/>
            <a:ahLst/>
            <a:cxnLst/>
            <a:rect r="r" b="b" t="t" l="l"/>
            <a:pathLst>
              <a:path h="419912" w="357307">
                <a:moveTo>
                  <a:pt x="0" y="0"/>
                </a:moveTo>
                <a:lnTo>
                  <a:pt x="357307" y="0"/>
                </a:lnTo>
                <a:lnTo>
                  <a:pt x="357307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86249"/>
            <a:ext cx="358803" cy="539185"/>
          </a:xfrm>
          <a:custGeom>
            <a:avLst/>
            <a:gdLst/>
            <a:ahLst/>
            <a:cxnLst/>
            <a:rect r="r" b="b" t="t" l="l"/>
            <a:pathLst>
              <a:path h="539185" w="358803">
                <a:moveTo>
                  <a:pt x="0" y="0"/>
                </a:moveTo>
                <a:lnTo>
                  <a:pt x="358803" y="0"/>
                </a:lnTo>
                <a:lnTo>
                  <a:pt x="358803" y="539185"/>
                </a:lnTo>
                <a:lnTo>
                  <a:pt x="0" y="539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67806" y="2792654"/>
            <a:ext cx="7984411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b="true" sz="5999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OBJETIVOS DE UN SISTEMA DE INFORMACIÓN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348607" y="2286529"/>
            <a:ext cx="4799551" cy="479955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7372" y="17372"/>
              <a:ext cx="778056" cy="778056"/>
            </a:xfrm>
            <a:custGeom>
              <a:avLst/>
              <a:gdLst/>
              <a:ahLst/>
              <a:cxnLst/>
              <a:rect r="r" b="b" t="t" l="l"/>
              <a:pathLst>
                <a:path h="778056" w="778056">
                  <a:moveTo>
                    <a:pt x="418684" y="12284"/>
                  </a:moveTo>
                  <a:lnTo>
                    <a:pt x="765772" y="359372"/>
                  </a:lnTo>
                  <a:cubicBezTo>
                    <a:pt x="773638" y="367238"/>
                    <a:pt x="778056" y="377905"/>
                    <a:pt x="778056" y="389028"/>
                  </a:cubicBezTo>
                  <a:cubicBezTo>
                    <a:pt x="778056" y="400151"/>
                    <a:pt x="773638" y="410818"/>
                    <a:pt x="765772" y="418684"/>
                  </a:cubicBezTo>
                  <a:lnTo>
                    <a:pt x="418684" y="765772"/>
                  </a:lnTo>
                  <a:cubicBezTo>
                    <a:pt x="410818" y="773638"/>
                    <a:pt x="400151" y="778056"/>
                    <a:pt x="389028" y="778056"/>
                  </a:cubicBezTo>
                  <a:cubicBezTo>
                    <a:pt x="377905" y="778056"/>
                    <a:pt x="367238" y="773638"/>
                    <a:pt x="359372" y="765772"/>
                  </a:cubicBezTo>
                  <a:lnTo>
                    <a:pt x="12284" y="418684"/>
                  </a:lnTo>
                  <a:cubicBezTo>
                    <a:pt x="4418" y="410818"/>
                    <a:pt x="0" y="400151"/>
                    <a:pt x="0" y="389028"/>
                  </a:cubicBezTo>
                  <a:cubicBezTo>
                    <a:pt x="0" y="377905"/>
                    <a:pt x="4418" y="367238"/>
                    <a:pt x="12284" y="359372"/>
                  </a:cubicBezTo>
                  <a:lnTo>
                    <a:pt x="359372" y="12284"/>
                  </a:lnTo>
                  <a:cubicBezTo>
                    <a:pt x="367238" y="4418"/>
                    <a:pt x="377905" y="0"/>
                    <a:pt x="389028" y="0"/>
                  </a:cubicBezTo>
                  <a:cubicBezTo>
                    <a:pt x="400151" y="0"/>
                    <a:pt x="410818" y="4418"/>
                    <a:pt x="418684" y="12284"/>
                  </a:cubicBezTo>
                  <a:close/>
                </a:path>
              </a:pathLst>
            </a:custGeom>
            <a:blipFill>
              <a:blip r:embed="rId8"/>
              <a:stretch>
                <a:fillRect l="-25046" t="0" r="-25046" b="0"/>
              </a:stretch>
            </a:blipFill>
            <a:ln w="190500" cap="rnd">
              <a:solidFill>
                <a:srgbClr val="D9FE54"/>
              </a:soli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32693" y="6629697"/>
            <a:ext cx="4799551" cy="479955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7372" y="17372"/>
              <a:ext cx="778056" cy="778056"/>
            </a:xfrm>
            <a:custGeom>
              <a:avLst/>
              <a:gdLst/>
              <a:ahLst/>
              <a:cxnLst/>
              <a:rect r="r" b="b" t="t" l="l"/>
              <a:pathLst>
                <a:path h="778056" w="778056">
                  <a:moveTo>
                    <a:pt x="418684" y="12284"/>
                  </a:moveTo>
                  <a:lnTo>
                    <a:pt x="765772" y="359372"/>
                  </a:lnTo>
                  <a:cubicBezTo>
                    <a:pt x="773638" y="367238"/>
                    <a:pt x="778056" y="377905"/>
                    <a:pt x="778056" y="389028"/>
                  </a:cubicBezTo>
                  <a:cubicBezTo>
                    <a:pt x="778056" y="400151"/>
                    <a:pt x="773638" y="410818"/>
                    <a:pt x="765772" y="418684"/>
                  </a:cubicBezTo>
                  <a:lnTo>
                    <a:pt x="418684" y="765772"/>
                  </a:lnTo>
                  <a:cubicBezTo>
                    <a:pt x="410818" y="773638"/>
                    <a:pt x="400151" y="778056"/>
                    <a:pt x="389028" y="778056"/>
                  </a:cubicBezTo>
                  <a:cubicBezTo>
                    <a:pt x="377905" y="778056"/>
                    <a:pt x="367238" y="773638"/>
                    <a:pt x="359372" y="765772"/>
                  </a:cubicBezTo>
                  <a:lnTo>
                    <a:pt x="12284" y="418684"/>
                  </a:lnTo>
                  <a:cubicBezTo>
                    <a:pt x="4418" y="410818"/>
                    <a:pt x="0" y="400151"/>
                    <a:pt x="0" y="389028"/>
                  </a:cubicBezTo>
                  <a:cubicBezTo>
                    <a:pt x="0" y="377905"/>
                    <a:pt x="4418" y="367238"/>
                    <a:pt x="12284" y="359372"/>
                  </a:cubicBezTo>
                  <a:lnTo>
                    <a:pt x="359372" y="12284"/>
                  </a:lnTo>
                  <a:cubicBezTo>
                    <a:pt x="367238" y="4418"/>
                    <a:pt x="377905" y="0"/>
                    <a:pt x="389028" y="0"/>
                  </a:cubicBezTo>
                  <a:cubicBezTo>
                    <a:pt x="400151" y="0"/>
                    <a:pt x="410818" y="4418"/>
                    <a:pt x="418684" y="12284"/>
                  </a:cubicBezTo>
                  <a:close/>
                </a:path>
              </a:pathLst>
            </a:custGeom>
            <a:blipFill>
              <a:blip r:embed="rId9"/>
              <a:stretch>
                <a:fillRect l="-25046" t="0" r="-25046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-1746081" y="3763506"/>
            <a:ext cx="4799551" cy="479955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7372" y="17372"/>
              <a:ext cx="778056" cy="778056"/>
            </a:xfrm>
            <a:custGeom>
              <a:avLst/>
              <a:gdLst/>
              <a:ahLst/>
              <a:cxnLst/>
              <a:rect r="r" b="b" t="t" l="l"/>
              <a:pathLst>
                <a:path h="778056" w="778056">
                  <a:moveTo>
                    <a:pt x="418684" y="12284"/>
                  </a:moveTo>
                  <a:lnTo>
                    <a:pt x="765772" y="359372"/>
                  </a:lnTo>
                  <a:cubicBezTo>
                    <a:pt x="773638" y="367238"/>
                    <a:pt x="778056" y="377905"/>
                    <a:pt x="778056" y="389028"/>
                  </a:cubicBezTo>
                  <a:cubicBezTo>
                    <a:pt x="778056" y="400151"/>
                    <a:pt x="773638" y="410818"/>
                    <a:pt x="765772" y="418684"/>
                  </a:cubicBezTo>
                  <a:lnTo>
                    <a:pt x="418684" y="765772"/>
                  </a:lnTo>
                  <a:cubicBezTo>
                    <a:pt x="410818" y="773638"/>
                    <a:pt x="400151" y="778056"/>
                    <a:pt x="389028" y="778056"/>
                  </a:cubicBezTo>
                  <a:cubicBezTo>
                    <a:pt x="377905" y="778056"/>
                    <a:pt x="367238" y="773638"/>
                    <a:pt x="359372" y="765772"/>
                  </a:cubicBezTo>
                  <a:lnTo>
                    <a:pt x="12284" y="418684"/>
                  </a:lnTo>
                  <a:cubicBezTo>
                    <a:pt x="4418" y="410818"/>
                    <a:pt x="0" y="400151"/>
                    <a:pt x="0" y="389028"/>
                  </a:cubicBezTo>
                  <a:cubicBezTo>
                    <a:pt x="0" y="377905"/>
                    <a:pt x="4418" y="367238"/>
                    <a:pt x="12284" y="359372"/>
                  </a:cubicBezTo>
                  <a:lnTo>
                    <a:pt x="359372" y="12284"/>
                  </a:lnTo>
                  <a:cubicBezTo>
                    <a:pt x="367238" y="4418"/>
                    <a:pt x="377905" y="0"/>
                    <a:pt x="389028" y="0"/>
                  </a:cubicBezTo>
                  <a:cubicBezTo>
                    <a:pt x="400151" y="0"/>
                    <a:pt x="410818" y="4418"/>
                    <a:pt x="418684" y="12284"/>
                  </a:cubicBezTo>
                  <a:close/>
                </a:path>
              </a:pathLst>
            </a:custGeom>
            <a:blipFill>
              <a:blip r:embed="rId10"/>
              <a:stretch>
                <a:fillRect l="-25471" t="0" r="-25471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775591" y="6163282"/>
            <a:ext cx="4984420" cy="2659343"/>
            <a:chOff x="0" y="0"/>
            <a:chExt cx="1312769" cy="7004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2769" cy="700403"/>
            </a:xfrm>
            <a:custGeom>
              <a:avLst/>
              <a:gdLst/>
              <a:ahLst/>
              <a:cxnLst/>
              <a:rect r="r" b="b" t="t" l="l"/>
              <a:pathLst>
                <a:path h="700403" w="1312769">
                  <a:moveTo>
                    <a:pt x="31064" y="0"/>
                  </a:moveTo>
                  <a:lnTo>
                    <a:pt x="1281705" y="0"/>
                  </a:lnTo>
                  <a:cubicBezTo>
                    <a:pt x="1298861" y="0"/>
                    <a:pt x="1312769" y="13908"/>
                    <a:pt x="1312769" y="31064"/>
                  </a:cubicBezTo>
                  <a:lnTo>
                    <a:pt x="1312769" y="669339"/>
                  </a:lnTo>
                  <a:cubicBezTo>
                    <a:pt x="1312769" y="677577"/>
                    <a:pt x="1309496" y="685479"/>
                    <a:pt x="1303670" y="691304"/>
                  </a:cubicBezTo>
                  <a:cubicBezTo>
                    <a:pt x="1297845" y="697130"/>
                    <a:pt x="1289943" y="700403"/>
                    <a:pt x="1281705" y="700403"/>
                  </a:cubicBezTo>
                  <a:lnTo>
                    <a:pt x="31064" y="700403"/>
                  </a:lnTo>
                  <a:cubicBezTo>
                    <a:pt x="22826" y="700403"/>
                    <a:pt x="14924" y="697130"/>
                    <a:pt x="9099" y="691304"/>
                  </a:cubicBezTo>
                  <a:cubicBezTo>
                    <a:pt x="3273" y="685479"/>
                    <a:pt x="0" y="677577"/>
                    <a:pt x="0" y="669339"/>
                  </a:cubicBezTo>
                  <a:lnTo>
                    <a:pt x="0" y="31064"/>
                  </a:lnTo>
                  <a:cubicBezTo>
                    <a:pt x="0" y="22826"/>
                    <a:pt x="3273" y="14924"/>
                    <a:pt x="9099" y="9099"/>
                  </a:cubicBezTo>
                  <a:cubicBezTo>
                    <a:pt x="14924" y="3273"/>
                    <a:pt x="22826" y="0"/>
                    <a:pt x="31064" y="0"/>
                  </a:cubicBezTo>
                  <a:close/>
                </a:path>
              </a:pathLst>
            </a:custGeom>
            <a:solidFill>
              <a:srgbClr val="2B37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57150"/>
              <a:ext cx="1312769" cy="643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034831" y="6270174"/>
            <a:ext cx="44069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Gestionar la información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39459" y="6270740"/>
            <a:ext cx="370268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Automatizar procesos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52456" y="6856914"/>
            <a:ext cx="3830691" cy="1504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Permiten almacenar, organizar y acceder fácilmente a la información de la empresa.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29503" y="6856914"/>
            <a:ext cx="4122600" cy="1504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Muchos procesos manuales pueden realizarse automáticamente mediante sistemas de información.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64950" y="1244716"/>
            <a:ext cx="2180247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SERVICE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922682" y="1244716"/>
            <a:ext cx="244263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ABOUT US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63024" y="1244716"/>
            <a:ext cx="1943613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HOME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360010" y="8571413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9" y="0"/>
                </a:lnTo>
                <a:lnTo>
                  <a:pt x="1133939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159446" y="4553925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6" y="0"/>
                </a:lnTo>
                <a:lnTo>
                  <a:pt x="1115036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2147" y="1179582"/>
            <a:ext cx="419912" cy="419912"/>
          </a:xfrm>
          <a:custGeom>
            <a:avLst/>
            <a:gdLst/>
            <a:ahLst/>
            <a:cxnLst/>
            <a:rect r="r" b="b" t="t" l="l"/>
            <a:pathLst>
              <a:path h="419912" w="419912">
                <a:moveTo>
                  <a:pt x="0" y="0"/>
                </a:moveTo>
                <a:lnTo>
                  <a:pt x="419912" y="0"/>
                </a:lnTo>
                <a:lnTo>
                  <a:pt x="419912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01993" y="1179582"/>
            <a:ext cx="357307" cy="419912"/>
          </a:xfrm>
          <a:custGeom>
            <a:avLst/>
            <a:gdLst/>
            <a:ahLst/>
            <a:cxnLst/>
            <a:rect r="r" b="b" t="t" l="l"/>
            <a:pathLst>
              <a:path h="419912" w="357307">
                <a:moveTo>
                  <a:pt x="0" y="0"/>
                </a:moveTo>
                <a:lnTo>
                  <a:pt x="357307" y="0"/>
                </a:lnTo>
                <a:lnTo>
                  <a:pt x="357307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86249"/>
            <a:ext cx="358803" cy="539185"/>
          </a:xfrm>
          <a:custGeom>
            <a:avLst/>
            <a:gdLst/>
            <a:ahLst/>
            <a:cxnLst/>
            <a:rect r="r" b="b" t="t" l="l"/>
            <a:pathLst>
              <a:path h="539185" w="358803">
                <a:moveTo>
                  <a:pt x="0" y="0"/>
                </a:moveTo>
                <a:lnTo>
                  <a:pt x="358803" y="0"/>
                </a:lnTo>
                <a:lnTo>
                  <a:pt x="358803" y="539185"/>
                </a:lnTo>
                <a:lnTo>
                  <a:pt x="0" y="539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37266" y="5181600"/>
            <a:ext cx="3431011" cy="34310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4301" y="24301"/>
              <a:ext cx="764198" cy="764198"/>
            </a:xfrm>
            <a:custGeom>
              <a:avLst/>
              <a:gdLst/>
              <a:ahLst/>
              <a:cxnLst/>
              <a:rect r="r" b="b" t="t" l="l"/>
              <a:pathLst>
                <a:path h="764198" w="764198">
                  <a:moveTo>
                    <a:pt x="423583" y="17183"/>
                  </a:moveTo>
                  <a:lnTo>
                    <a:pt x="747015" y="340615"/>
                  </a:lnTo>
                  <a:cubicBezTo>
                    <a:pt x="769926" y="363526"/>
                    <a:pt x="769926" y="400672"/>
                    <a:pt x="747015" y="423583"/>
                  </a:cubicBezTo>
                  <a:lnTo>
                    <a:pt x="423583" y="747015"/>
                  </a:lnTo>
                  <a:cubicBezTo>
                    <a:pt x="400672" y="769926"/>
                    <a:pt x="363526" y="769926"/>
                    <a:pt x="340615" y="747015"/>
                  </a:cubicBezTo>
                  <a:lnTo>
                    <a:pt x="17183" y="423583"/>
                  </a:lnTo>
                  <a:cubicBezTo>
                    <a:pt x="-5728" y="400672"/>
                    <a:pt x="-5728" y="363526"/>
                    <a:pt x="17183" y="340615"/>
                  </a:cubicBezTo>
                  <a:lnTo>
                    <a:pt x="340615" y="17183"/>
                  </a:lnTo>
                  <a:cubicBezTo>
                    <a:pt x="363526" y="-5728"/>
                    <a:pt x="400672" y="-5728"/>
                    <a:pt x="423583" y="17183"/>
                  </a:cubicBezTo>
                  <a:close/>
                </a:path>
              </a:pathLst>
            </a:custGeom>
            <a:blipFill>
              <a:blip r:embed="rId8"/>
              <a:stretch>
                <a:fillRect l="-25046" t="0" r="-25046" b="0"/>
              </a:stretch>
            </a:blipFill>
            <a:ln w="133350" cap="rnd">
              <a:solidFill>
                <a:srgbClr val="D9FE54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5176451" y="5181600"/>
            <a:ext cx="3431011" cy="343101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4301" y="24301"/>
              <a:ext cx="764198" cy="764198"/>
            </a:xfrm>
            <a:custGeom>
              <a:avLst/>
              <a:gdLst/>
              <a:ahLst/>
              <a:cxnLst/>
              <a:rect r="r" b="b" t="t" l="l"/>
              <a:pathLst>
                <a:path h="764198" w="764198">
                  <a:moveTo>
                    <a:pt x="423583" y="17183"/>
                  </a:moveTo>
                  <a:lnTo>
                    <a:pt x="747015" y="340615"/>
                  </a:lnTo>
                  <a:cubicBezTo>
                    <a:pt x="769926" y="363526"/>
                    <a:pt x="769926" y="400672"/>
                    <a:pt x="747015" y="423583"/>
                  </a:cubicBezTo>
                  <a:lnTo>
                    <a:pt x="423583" y="747015"/>
                  </a:lnTo>
                  <a:cubicBezTo>
                    <a:pt x="400672" y="769926"/>
                    <a:pt x="363526" y="769926"/>
                    <a:pt x="340615" y="747015"/>
                  </a:cubicBezTo>
                  <a:lnTo>
                    <a:pt x="17183" y="423583"/>
                  </a:lnTo>
                  <a:cubicBezTo>
                    <a:pt x="-5728" y="400672"/>
                    <a:pt x="-5728" y="363526"/>
                    <a:pt x="17183" y="340615"/>
                  </a:cubicBezTo>
                  <a:lnTo>
                    <a:pt x="340615" y="17183"/>
                  </a:lnTo>
                  <a:cubicBezTo>
                    <a:pt x="363526" y="-5728"/>
                    <a:pt x="400672" y="-5728"/>
                    <a:pt x="423583" y="17183"/>
                  </a:cubicBezTo>
                  <a:close/>
                </a:path>
              </a:pathLst>
            </a:custGeom>
            <a:blipFill>
              <a:blip r:embed="rId9"/>
              <a:stretch>
                <a:fillRect l="-25046" t="0" r="-25046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464950" y="1244716"/>
            <a:ext cx="2180247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22682" y="1244716"/>
            <a:ext cx="244263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63024" y="1244716"/>
            <a:ext cx="1943613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27333" y="2981330"/>
            <a:ext cx="6971503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CLASIFICACIÓN DE LOS SISTEMAS DE INFORMACIÓN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24247" y="2952755"/>
            <a:ext cx="6817900" cy="2449872"/>
            <a:chOff x="0" y="0"/>
            <a:chExt cx="1795661" cy="6452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95661" cy="645234"/>
            </a:xfrm>
            <a:custGeom>
              <a:avLst/>
              <a:gdLst/>
              <a:ahLst/>
              <a:cxnLst/>
              <a:rect r="r" b="b" t="t" l="l"/>
              <a:pathLst>
                <a:path h="645234" w="1795661">
                  <a:moveTo>
                    <a:pt x="22711" y="0"/>
                  </a:moveTo>
                  <a:lnTo>
                    <a:pt x="1772950" y="0"/>
                  </a:lnTo>
                  <a:cubicBezTo>
                    <a:pt x="1778974" y="0"/>
                    <a:pt x="1784750" y="2393"/>
                    <a:pt x="1789009" y="6652"/>
                  </a:cubicBezTo>
                  <a:cubicBezTo>
                    <a:pt x="1793268" y="10911"/>
                    <a:pt x="1795661" y="16687"/>
                    <a:pt x="1795661" y="22711"/>
                  </a:cubicBezTo>
                  <a:lnTo>
                    <a:pt x="1795661" y="622523"/>
                  </a:lnTo>
                  <a:cubicBezTo>
                    <a:pt x="1795661" y="628546"/>
                    <a:pt x="1793268" y="634323"/>
                    <a:pt x="1789009" y="638582"/>
                  </a:cubicBezTo>
                  <a:cubicBezTo>
                    <a:pt x="1784750" y="642841"/>
                    <a:pt x="1778974" y="645234"/>
                    <a:pt x="1772950" y="645234"/>
                  </a:cubicBezTo>
                  <a:lnTo>
                    <a:pt x="22711" y="645234"/>
                  </a:lnTo>
                  <a:cubicBezTo>
                    <a:pt x="10168" y="645234"/>
                    <a:pt x="0" y="635066"/>
                    <a:pt x="0" y="622523"/>
                  </a:cubicBezTo>
                  <a:lnTo>
                    <a:pt x="0" y="22711"/>
                  </a:lnTo>
                  <a:cubicBezTo>
                    <a:pt x="0" y="16687"/>
                    <a:pt x="2393" y="10911"/>
                    <a:pt x="6652" y="6652"/>
                  </a:cubicBezTo>
                  <a:cubicBezTo>
                    <a:pt x="10911" y="2393"/>
                    <a:pt x="16687" y="0"/>
                    <a:pt x="22711" y="0"/>
                  </a:cubicBezTo>
                  <a:close/>
                </a:path>
              </a:pathLst>
            </a:custGeom>
            <a:solidFill>
              <a:srgbClr val="2B37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57150"/>
              <a:ext cx="1795661" cy="588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623929" y="3536441"/>
            <a:ext cx="6422968" cy="122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85"/>
              </a:lnSpc>
              <a:spcBef>
                <a:spcPct val="0"/>
              </a:spcBef>
            </a:pPr>
            <a:r>
              <a:rPr lang="en-US" sz="219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Los sistemas de información se pueden clasificar según su función dentro de la organización.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24247" y="6079630"/>
            <a:ext cx="8287724" cy="264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De forma general, en sistemas de procesamiento de transacciones (que registran operaciones rutinarias), sistemas de información gerencial (que generan informes para la administración), sistemas de apoyo a decisiones y ejecutivos (que ayudan a analizar datos y decidir a nivel táctico y estratégico) y sistemas estratégicos, orientados a la planificación y competitividad de la organización.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61731" y="8958515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8" y="0"/>
                </a:lnTo>
                <a:lnTo>
                  <a:pt x="1133938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584629" y="2657967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6" y="0"/>
                </a:lnTo>
                <a:lnTo>
                  <a:pt x="1115036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2147" y="1179582"/>
            <a:ext cx="419912" cy="419912"/>
          </a:xfrm>
          <a:custGeom>
            <a:avLst/>
            <a:gdLst/>
            <a:ahLst/>
            <a:cxnLst/>
            <a:rect r="r" b="b" t="t" l="l"/>
            <a:pathLst>
              <a:path h="419912" w="419912">
                <a:moveTo>
                  <a:pt x="0" y="0"/>
                </a:moveTo>
                <a:lnTo>
                  <a:pt x="419912" y="0"/>
                </a:lnTo>
                <a:lnTo>
                  <a:pt x="419912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01993" y="1179582"/>
            <a:ext cx="357307" cy="419912"/>
          </a:xfrm>
          <a:custGeom>
            <a:avLst/>
            <a:gdLst/>
            <a:ahLst/>
            <a:cxnLst/>
            <a:rect r="r" b="b" t="t" l="l"/>
            <a:pathLst>
              <a:path h="419912" w="357307">
                <a:moveTo>
                  <a:pt x="0" y="0"/>
                </a:moveTo>
                <a:lnTo>
                  <a:pt x="357307" y="0"/>
                </a:lnTo>
                <a:lnTo>
                  <a:pt x="357307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86249"/>
            <a:ext cx="358803" cy="539185"/>
          </a:xfrm>
          <a:custGeom>
            <a:avLst/>
            <a:gdLst/>
            <a:ahLst/>
            <a:cxnLst/>
            <a:rect r="r" b="b" t="t" l="l"/>
            <a:pathLst>
              <a:path h="539185" w="358803">
                <a:moveTo>
                  <a:pt x="0" y="0"/>
                </a:moveTo>
                <a:lnTo>
                  <a:pt x="358803" y="0"/>
                </a:lnTo>
                <a:lnTo>
                  <a:pt x="358803" y="539185"/>
                </a:lnTo>
                <a:lnTo>
                  <a:pt x="0" y="539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37266" y="5181600"/>
            <a:ext cx="3431011" cy="34310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4301" y="24301"/>
              <a:ext cx="764198" cy="764198"/>
            </a:xfrm>
            <a:custGeom>
              <a:avLst/>
              <a:gdLst/>
              <a:ahLst/>
              <a:cxnLst/>
              <a:rect r="r" b="b" t="t" l="l"/>
              <a:pathLst>
                <a:path h="764198" w="764198">
                  <a:moveTo>
                    <a:pt x="423583" y="17183"/>
                  </a:moveTo>
                  <a:lnTo>
                    <a:pt x="747015" y="340615"/>
                  </a:lnTo>
                  <a:cubicBezTo>
                    <a:pt x="769926" y="363526"/>
                    <a:pt x="769926" y="400672"/>
                    <a:pt x="747015" y="423583"/>
                  </a:cubicBezTo>
                  <a:lnTo>
                    <a:pt x="423583" y="747015"/>
                  </a:lnTo>
                  <a:cubicBezTo>
                    <a:pt x="400672" y="769926"/>
                    <a:pt x="363526" y="769926"/>
                    <a:pt x="340615" y="747015"/>
                  </a:cubicBezTo>
                  <a:lnTo>
                    <a:pt x="17183" y="423583"/>
                  </a:lnTo>
                  <a:cubicBezTo>
                    <a:pt x="-5728" y="400672"/>
                    <a:pt x="-5728" y="363526"/>
                    <a:pt x="17183" y="340615"/>
                  </a:cubicBezTo>
                  <a:lnTo>
                    <a:pt x="340615" y="17183"/>
                  </a:lnTo>
                  <a:cubicBezTo>
                    <a:pt x="363526" y="-5728"/>
                    <a:pt x="400672" y="-5728"/>
                    <a:pt x="423583" y="17183"/>
                  </a:cubicBezTo>
                  <a:close/>
                </a:path>
              </a:pathLst>
            </a:custGeom>
            <a:blipFill>
              <a:blip r:embed="rId8"/>
              <a:stretch>
                <a:fillRect l="-25046" t="0" r="-25046" b="0"/>
              </a:stretch>
            </a:blipFill>
            <a:ln w="133350" cap="rnd">
              <a:solidFill>
                <a:srgbClr val="D9FE54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5176451" y="5181600"/>
            <a:ext cx="3431011" cy="343101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4301" y="24301"/>
              <a:ext cx="764198" cy="764198"/>
            </a:xfrm>
            <a:custGeom>
              <a:avLst/>
              <a:gdLst/>
              <a:ahLst/>
              <a:cxnLst/>
              <a:rect r="r" b="b" t="t" l="l"/>
              <a:pathLst>
                <a:path h="764198" w="764198">
                  <a:moveTo>
                    <a:pt x="423583" y="17183"/>
                  </a:moveTo>
                  <a:lnTo>
                    <a:pt x="747015" y="340615"/>
                  </a:lnTo>
                  <a:cubicBezTo>
                    <a:pt x="769926" y="363526"/>
                    <a:pt x="769926" y="400672"/>
                    <a:pt x="747015" y="423583"/>
                  </a:cubicBezTo>
                  <a:lnTo>
                    <a:pt x="423583" y="747015"/>
                  </a:lnTo>
                  <a:cubicBezTo>
                    <a:pt x="400672" y="769926"/>
                    <a:pt x="363526" y="769926"/>
                    <a:pt x="340615" y="747015"/>
                  </a:cubicBezTo>
                  <a:lnTo>
                    <a:pt x="17183" y="423583"/>
                  </a:lnTo>
                  <a:cubicBezTo>
                    <a:pt x="-5728" y="400672"/>
                    <a:pt x="-5728" y="363526"/>
                    <a:pt x="17183" y="340615"/>
                  </a:cubicBezTo>
                  <a:lnTo>
                    <a:pt x="340615" y="17183"/>
                  </a:lnTo>
                  <a:cubicBezTo>
                    <a:pt x="363526" y="-5728"/>
                    <a:pt x="400672" y="-5728"/>
                    <a:pt x="423583" y="17183"/>
                  </a:cubicBezTo>
                  <a:close/>
                </a:path>
              </a:pathLst>
            </a:custGeom>
            <a:blipFill>
              <a:blip r:embed="rId9"/>
              <a:stretch>
                <a:fillRect l="-25046" t="0" r="-25046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464950" y="1244716"/>
            <a:ext cx="2180247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22682" y="1244716"/>
            <a:ext cx="244263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63024" y="1244716"/>
            <a:ext cx="1943613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27333" y="2981330"/>
            <a:ext cx="6971503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CLASIFICACIÓN DE LOS SISTEMAS DE INFORMACIÓN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24247" y="2952755"/>
            <a:ext cx="6817900" cy="2449872"/>
            <a:chOff x="0" y="0"/>
            <a:chExt cx="1795661" cy="6452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95661" cy="645234"/>
            </a:xfrm>
            <a:custGeom>
              <a:avLst/>
              <a:gdLst/>
              <a:ahLst/>
              <a:cxnLst/>
              <a:rect r="r" b="b" t="t" l="l"/>
              <a:pathLst>
                <a:path h="645234" w="1795661">
                  <a:moveTo>
                    <a:pt x="22711" y="0"/>
                  </a:moveTo>
                  <a:lnTo>
                    <a:pt x="1772950" y="0"/>
                  </a:lnTo>
                  <a:cubicBezTo>
                    <a:pt x="1778974" y="0"/>
                    <a:pt x="1784750" y="2393"/>
                    <a:pt x="1789009" y="6652"/>
                  </a:cubicBezTo>
                  <a:cubicBezTo>
                    <a:pt x="1793268" y="10911"/>
                    <a:pt x="1795661" y="16687"/>
                    <a:pt x="1795661" y="22711"/>
                  </a:cubicBezTo>
                  <a:lnTo>
                    <a:pt x="1795661" y="622523"/>
                  </a:lnTo>
                  <a:cubicBezTo>
                    <a:pt x="1795661" y="628546"/>
                    <a:pt x="1793268" y="634323"/>
                    <a:pt x="1789009" y="638582"/>
                  </a:cubicBezTo>
                  <a:cubicBezTo>
                    <a:pt x="1784750" y="642841"/>
                    <a:pt x="1778974" y="645234"/>
                    <a:pt x="1772950" y="645234"/>
                  </a:cubicBezTo>
                  <a:lnTo>
                    <a:pt x="22711" y="645234"/>
                  </a:lnTo>
                  <a:cubicBezTo>
                    <a:pt x="10168" y="645234"/>
                    <a:pt x="0" y="635066"/>
                    <a:pt x="0" y="622523"/>
                  </a:cubicBezTo>
                  <a:lnTo>
                    <a:pt x="0" y="22711"/>
                  </a:lnTo>
                  <a:cubicBezTo>
                    <a:pt x="0" y="16687"/>
                    <a:pt x="2393" y="10911"/>
                    <a:pt x="6652" y="6652"/>
                  </a:cubicBezTo>
                  <a:cubicBezTo>
                    <a:pt x="10911" y="2393"/>
                    <a:pt x="16687" y="0"/>
                    <a:pt x="22711" y="0"/>
                  </a:cubicBezTo>
                  <a:close/>
                </a:path>
              </a:pathLst>
            </a:custGeom>
            <a:solidFill>
              <a:srgbClr val="2B37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57150"/>
              <a:ext cx="1795661" cy="588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851291" y="3979867"/>
            <a:ext cx="5763812" cy="1470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1965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Gestionan operaciones diarias de la empresa.</a:t>
            </a:r>
          </a:p>
          <a:p>
            <a:pPr algn="l" marL="0" indent="0" lvl="0">
              <a:lnSpc>
                <a:spcPts val="2948"/>
              </a:lnSpc>
              <a:spcBef>
                <a:spcPct val="0"/>
              </a:spcBef>
            </a:pPr>
            <a:r>
              <a:rPr lang="en-US" sz="1965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Procesan grandes volúmenes de datos.</a:t>
            </a:r>
          </a:p>
          <a:p>
            <a:pPr algn="l" marL="0" indent="0" lvl="0">
              <a:lnSpc>
                <a:spcPts val="2948"/>
              </a:lnSpc>
              <a:spcBef>
                <a:spcPct val="0"/>
              </a:spcBef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61731" y="8958515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8" y="0"/>
                </a:lnTo>
                <a:lnTo>
                  <a:pt x="1133938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584629" y="2657967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6" y="0"/>
                </a:lnTo>
                <a:lnTo>
                  <a:pt x="1115036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851291" y="3333267"/>
            <a:ext cx="5394148" cy="53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Sistemas de Procesamiento de Transacciones (TPS)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24247" y="6459854"/>
            <a:ext cx="3751606" cy="2159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1911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Ejemplos:</a:t>
            </a:r>
          </a:p>
          <a:p>
            <a:pPr algn="l">
              <a:lnSpc>
                <a:spcPts val="2866"/>
              </a:lnSpc>
            </a:pPr>
          </a:p>
          <a:p>
            <a:pPr algn="ctr">
              <a:lnSpc>
                <a:spcPts val="2866"/>
              </a:lnSpc>
            </a:pPr>
            <a:r>
              <a:rPr lang="en-US" sz="1911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  Registr</a:t>
            </a:r>
            <a:r>
              <a:rPr lang="en-US" sz="1911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o de ventas</a:t>
            </a:r>
          </a:p>
          <a:p>
            <a:pPr algn="ctr">
              <a:lnSpc>
                <a:spcPts val="2866"/>
              </a:lnSpc>
            </a:pPr>
            <a:r>
              <a:rPr lang="en-US" sz="1911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Gestión de pedidos</a:t>
            </a:r>
          </a:p>
          <a:p>
            <a:pPr algn="ctr">
              <a:lnSpc>
                <a:spcPts val="2866"/>
              </a:lnSpc>
            </a:pPr>
            <a:r>
              <a:rPr lang="en-US" sz="1911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 Control de inventario</a:t>
            </a:r>
          </a:p>
          <a:p>
            <a:pPr algn="ctr" marL="0" indent="0" lvl="0">
              <a:lnSpc>
                <a:spcPts val="2866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3790229" y="6755129"/>
            <a:ext cx="3751606" cy="143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sz="1911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Un sistema que registra cada tarea completada por los desarrolladores en un proyecto.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2147" y="1179582"/>
            <a:ext cx="419912" cy="419912"/>
          </a:xfrm>
          <a:custGeom>
            <a:avLst/>
            <a:gdLst/>
            <a:ahLst/>
            <a:cxnLst/>
            <a:rect r="r" b="b" t="t" l="l"/>
            <a:pathLst>
              <a:path h="419912" w="419912">
                <a:moveTo>
                  <a:pt x="0" y="0"/>
                </a:moveTo>
                <a:lnTo>
                  <a:pt x="419912" y="0"/>
                </a:lnTo>
                <a:lnTo>
                  <a:pt x="419912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01993" y="1179582"/>
            <a:ext cx="357307" cy="419912"/>
          </a:xfrm>
          <a:custGeom>
            <a:avLst/>
            <a:gdLst/>
            <a:ahLst/>
            <a:cxnLst/>
            <a:rect r="r" b="b" t="t" l="l"/>
            <a:pathLst>
              <a:path h="419912" w="357307">
                <a:moveTo>
                  <a:pt x="0" y="0"/>
                </a:moveTo>
                <a:lnTo>
                  <a:pt x="357307" y="0"/>
                </a:lnTo>
                <a:lnTo>
                  <a:pt x="357307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86249"/>
            <a:ext cx="358803" cy="539185"/>
          </a:xfrm>
          <a:custGeom>
            <a:avLst/>
            <a:gdLst/>
            <a:ahLst/>
            <a:cxnLst/>
            <a:rect r="r" b="b" t="t" l="l"/>
            <a:pathLst>
              <a:path h="539185" w="358803">
                <a:moveTo>
                  <a:pt x="0" y="0"/>
                </a:moveTo>
                <a:lnTo>
                  <a:pt x="358803" y="0"/>
                </a:lnTo>
                <a:lnTo>
                  <a:pt x="358803" y="539185"/>
                </a:lnTo>
                <a:lnTo>
                  <a:pt x="0" y="539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37266" y="5181600"/>
            <a:ext cx="3431011" cy="34310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4301" y="24301"/>
              <a:ext cx="764198" cy="764198"/>
            </a:xfrm>
            <a:custGeom>
              <a:avLst/>
              <a:gdLst/>
              <a:ahLst/>
              <a:cxnLst/>
              <a:rect r="r" b="b" t="t" l="l"/>
              <a:pathLst>
                <a:path h="764198" w="764198">
                  <a:moveTo>
                    <a:pt x="423583" y="17183"/>
                  </a:moveTo>
                  <a:lnTo>
                    <a:pt x="747015" y="340615"/>
                  </a:lnTo>
                  <a:cubicBezTo>
                    <a:pt x="769926" y="363526"/>
                    <a:pt x="769926" y="400672"/>
                    <a:pt x="747015" y="423583"/>
                  </a:cubicBezTo>
                  <a:lnTo>
                    <a:pt x="423583" y="747015"/>
                  </a:lnTo>
                  <a:cubicBezTo>
                    <a:pt x="400672" y="769926"/>
                    <a:pt x="363526" y="769926"/>
                    <a:pt x="340615" y="747015"/>
                  </a:cubicBezTo>
                  <a:lnTo>
                    <a:pt x="17183" y="423583"/>
                  </a:lnTo>
                  <a:cubicBezTo>
                    <a:pt x="-5728" y="400672"/>
                    <a:pt x="-5728" y="363526"/>
                    <a:pt x="17183" y="340615"/>
                  </a:cubicBezTo>
                  <a:lnTo>
                    <a:pt x="340615" y="17183"/>
                  </a:lnTo>
                  <a:cubicBezTo>
                    <a:pt x="363526" y="-5728"/>
                    <a:pt x="400672" y="-5728"/>
                    <a:pt x="423583" y="17183"/>
                  </a:cubicBezTo>
                  <a:close/>
                </a:path>
              </a:pathLst>
            </a:custGeom>
            <a:blipFill>
              <a:blip r:embed="rId8"/>
              <a:stretch>
                <a:fillRect l="-25046" t="0" r="-25046" b="0"/>
              </a:stretch>
            </a:blipFill>
            <a:ln w="133350" cap="rnd">
              <a:solidFill>
                <a:srgbClr val="D9FE54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5176451" y="5181600"/>
            <a:ext cx="3431011" cy="343101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4301" y="24301"/>
              <a:ext cx="764198" cy="764198"/>
            </a:xfrm>
            <a:custGeom>
              <a:avLst/>
              <a:gdLst/>
              <a:ahLst/>
              <a:cxnLst/>
              <a:rect r="r" b="b" t="t" l="l"/>
              <a:pathLst>
                <a:path h="764198" w="764198">
                  <a:moveTo>
                    <a:pt x="423583" y="17183"/>
                  </a:moveTo>
                  <a:lnTo>
                    <a:pt x="747015" y="340615"/>
                  </a:lnTo>
                  <a:cubicBezTo>
                    <a:pt x="769926" y="363526"/>
                    <a:pt x="769926" y="400672"/>
                    <a:pt x="747015" y="423583"/>
                  </a:cubicBezTo>
                  <a:lnTo>
                    <a:pt x="423583" y="747015"/>
                  </a:lnTo>
                  <a:cubicBezTo>
                    <a:pt x="400672" y="769926"/>
                    <a:pt x="363526" y="769926"/>
                    <a:pt x="340615" y="747015"/>
                  </a:cubicBezTo>
                  <a:lnTo>
                    <a:pt x="17183" y="423583"/>
                  </a:lnTo>
                  <a:cubicBezTo>
                    <a:pt x="-5728" y="400672"/>
                    <a:pt x="-5728" y="363526"/>
                    <a:pt x="17183" y="340615"/>
                  </a:cubicBezTo>
                  <a:lnTo>
                    <a:pt x="340615" y="17183"/>
                  </a:lnTo>
                  <a:cubicBezTo>
                    <a:pt x="363526" y="-5728"/>
                    <a:pt x="400672" y="-5728"/>
                    <a:pt x="423583" y="17183"/>
                  </a:cubicBezTo>
                  <a:close/>
                </a:path>
              </a:pathLst>
            </a:custGeom>
            <a:blipFill>
              <a:blip r:embed="rId9"/>
              <a:stretch>
                <a:fillRect l="-25046" t="0" r="-25046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464950" y="1244716"/>
            <a:ext cx="2180247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22682" y="1244716"/>
            <a:ext cx="244263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63024" y="1244716"/>
            <a:ext cx="1943613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27333" y="2981330"/>
            <a:ext cx="6971503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CLASIFICACIÓN DE LOS SISTEMAS DE INFORMACIÓN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24247" y="2952755"/>
            <a:ext cx="6817900" cy="2449872"/>
            <a:chOff x="0" y="0"/>
            <a:chExt cx="1795661" cy="6452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95661" cy="645234"/>
            </a:xfrm>
            <a:custGeom>
              <a:avLst/>
              <a:gdLst/>
              <a:ahLst/>
              <a:cxnLst/>
              <a:rect r="r" b="b" t="t" l="l"/>
              <a:pathLst>
                <a:path h="645234" w="1795661">
                  <a:moveTo>
                    <a:pt x="22711" y="0"/>
                  </a:moveTo>
                  <a:lnTo>
                    <a:pt x="1772950" y="0"/>
                  </a:lnTo>
                  <a:cubicBezTo>
                    <a:pt x="1778974" y="0"/>
                    <a:pt x="1784750" y="2393"/>
                    <a:pt x="1789009" y="6652"/>
                  </a:cubicBezTo>
                  <a:cubicBezTo>
                    <a:pt x="1793268" y="10911"/>
                    <a:pt x="1795661" y="16687"/>
                    <a:pt x="1795661" y="22711"/>
                  </a:cubicBezTo>
                  <a:lnTo>
                    <a:pt x="1795661" y="622523"/>
                  </a:lnTo>
                  <a:cubicBezTo>
                    <a:pt x="1795661" y="628546"/>
                    <a:pt x="1793268" y="634323"/>
                    <a:pt x="1789009" y="638582"/>
                  </a:cubicBezTo>
                  <a:cubicBezTo>
                    <a:pt x="1784750" y="642841"/>
                    <a:pt x="1778974" y="645234"/>
                    <a:pt x="1772950" y="645234"/>
                  </a:cubicBezTo>
                  <a:lnTo>
                    <a:pt x="22711" y="645234"/>
                  </a:lnTo>
                  <a:cubicBezTo>
                    <a:pt x="10168" y="645234"/>
                    <a:pt x="0" y="635066"/>
                    <a:pt x="0" y="622523"/>
                  </a:cubicBezTo>
                  <a:lnTo>
                    <a:pt x="0" y="22711"/>
                  </a:lnTo>
                  <a:cubicBezTo>
                    <a:pt x="0" y="16687"/>
                    <a:pt x="2393" y="10911"/>
                    <a:pt x="6652" y="6652"/>
                  </a:cubicBezTo>
                  <a:cubicBezTo>
                    <a:pt x="10911" y="2393"/>
                    <a:pt x="16687" y="0"/>
                    <a:pt x="22711" y="0"/>
                  </a:cubicBezTo>
                  <a:close/>
                </a:path>
              </a:pathLst>
            </a:custGeom>
            <a:solidFill>
              <a:srgbClr val="2B37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57150"/>
              <a:ext cx="1795661" cy="588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851291" y="3837040"/>
            <a:ext cx="5763812" cy="1470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1965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Proporcionan informes y reportes para los gerentes.</a:t>
            </a:r>
          </a:p>
          <a:p>
            <a:pPr algn="l" marL="0" indent="0" lvl="0">
              <a:lnSpc>
                <a:spcPts val="2948"/>
              </a:lnSpc>
              <a:spcBef>
                <a:spcPct val="0"/>
              </a:spcBef>
            </a:pPr>
            <a:r>
              <a:rPr lang="en-US" sz="1965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Se utilizan para monitorear el desempeño de la organización.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61731" y="8958515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8" y="0"/>
                </a:lnTo>
                <a:lnTo>
                  <a:pt x="1133938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584629" y="2657967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6" y="0"/>
                </a:lnTo>
                <a:lnTo>
                  <a:pt x="1115036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841766" y="3228492"/>
            <a:ext cx="5394148" cy="53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Sistemas de Información Gerencial (MIS)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72988" y="6774226"/>
            <a:ext cx="4744417" cy="136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5"/>
              </a:lnSpc>
            </a:pPr>
            <a:r>
              <a:rPr lang="en-US" sz="2416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Reportes semanales sobre el avance de proyectos y productividad del equipo.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2147" y="1179582"/>
            <a:ext cx="419912" cy="419912"/>
          </a:xfrm>
          <a:custGeom>
            <a:avLst/>
            <a:gdLst/>
            <a:ahLst/>
            <a:cxnLst/>
            <a:rect r="r" b="b" t="t" l="l"/>
            <a:pathLst>
              <a:path h="419912" w="419912">
                <a:moveTo>
                  <a:pt x="0" y="0"/>
                </a:moveTo>
                <a:lnTo>
                  <a:pt x="419912" y="0"/>
                </a:lnTo>
                <a:lnTo>
                  <a:pt x="419912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01993" y="1179582"/>
            <a:ext cx="357307" cy="419912"/>
          </a:xfrm>
          <a:custGeom>
            <a:avLst/>
            <a:gdLst/>
            <a:ahLst/>
            <a:cxnLst/>
            <a:rect r="r" b="b" t="t" l="l"/>
            <a:pathLst>
              <a:path h="419912" w="357307">
                <a:moveTo>
                  <a:pt x="0" y="0"/>
                </a:moveTo>
                <a:lnTo>
                  <a:pt x="357307" y="0"/>
                </a:lnTo>
                <a:lnTo>
                  <a:pt x="357307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86249"/>
            <a:ext cx="358803" cy="539185"/>
          </a:xfrm>
          <a:custGeom>
            <a:avLst/>
            <a:gdLst/>
            <a:ahLst/>
            <a:cxnLst/>
            <a:rect r="r" b="b" t="t" l="l"/>
            <a:pathLst>
              <a:path h="539185" w="358803">
                <a:moveTo>
                  <a:pt x="0" y="0"/>
                </a:moveTo>
                <a:lnTo>
                  <a:pt x="358803" y="0"/>
                </a:lnTo>
                <a:lnTo>
                  <a:pt x="358803" y="539185"/>
                </a:lnTo>
                <a:lnTo>
                  <a:pt x="0" y="539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37266" y="5181600"/>
            <a:ext cx="3431011" cy="34310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4301" y="24301"/>
              <a:ext cx="764198" cy="764198"/>
            </a:xfrm>
            <a:custGeom>
              <a:avLst/>
              <a:gdLst/>
              <a:ahLst/>
              <a:cxnLst/>
              <a:rect r="r" b="b" t="t" l="l"/>
              <a:pathLst>
                <a:path h="764198" w="764198">
                  <a:moveTo>
                    <a:pt x="423583" y="17183"/>
                  </a:moveTo>
                  <a:lnTo>
                    <a:pt x="747015" y="340615"/>
                  </a:lnTo>
                  <a:cubicBezTo>
                    <a:pt x="769926" y="363526"/>
                    <a:pt x="769926" y="400672"/>
                    <a:pt x="747015" y="423583"/>
                  </a:cubicBezTo>
                  <a:lnTo>
                    <a:pt x="423583" y="747015"/>
                  </a:lnTo>
                  <a:cubicBezTo>
                    <a:pt x="400672" y="769926"/>
                    <a:pt x="363526" y="769926"/>
                    <a:pt x="340615" y="747015"/>
                  </a:cubicBezTo>
                  <a:lnTo>
                    <a:pt x="17183" y="423583"/>
                  </a:lnTo>
                  <a:cubicBezTo>
                    <a:pt x="-5728" y="400672"/>
                    <a:pt x="-5728" y="363526"/>
                    <a:pt x="17183" y="340615"/>
                  </a:cubicBezTo>
                  <a:lnTo>
                    <a:pt x="340615" y="17183"/>
                  </a:lnTo>
                  <a:cubicBezTo>
                    <a:pt x="363526" y="-5728"/>
                    <a:pt x="400672" y="-5728"/>
                    <a:pt x="423583" y="17183"/>
                  </a:cubicBezTo>
                  <a:close/>
                </a:path>
              </a:pathLst>
            </a:custGeom>
            <a:blipFill>
              <a:blip r:embed="rId8"/>
              <a:stretch>
                <a:fillRect l="-25046" t="0" r="-25046" b="0"/>
              </a:stretch>
            </a:blipFill>
            <a:ln w="133350" cap="rnd">
              <a:solidFill>
                <a:srgbClr val="D9FE54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5176451" y="5181600"/>
            <a:ext cx="3431011" cy="343101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4301" y="24301"/>
              <a:ext cx="764198" cy="764198"/>
            </a:xfrm>
            <a:custGeom>
              <a:avLst/>
              <a:gdLst/>
              <a:ahLst/>
              <a:cxnLst/>
              <a:rect r="r" b="b" t="t" l="l"/>
              <a:pathLst>
                <a:path h="764198" w="764198">
                  <a:moveTo>
                    <a:pt x="423583" y="17183"/>
                  </a:moveTo>
                  <a:lnTo>
                    <a:pt x="747015" y="340615"/>
                  </a:lnTo>
                  <a:cubicBezTo>
                    <a:pt x="769926" y="363526"/>
                    <a:pt x="769926" y="400672"/>
                    <a:pt x="747015" y="423583"/>
                  </a:cubicBezTo>
                  <a:lnTo>
                    <a:pt x="423583" y="747015"/>
                  </a:lnTo>
                  <a:cubicBezTo>
                    <a:pt x="400672" y="769926"/>
                    <a:pt x="363526" y="769926"/>
                    <a:pt x="340615" y="747015"/>
                  </a:cubicBezTo>
                  <a:lnTo>
                    <a:pt x="17183" y="423583"/>
                  </a:lnTo>
                  <a:cubicBezTo>
                    <a:pt x="-5728" y="400672"/>
                    <a:pt x="-5728" y="363526"/>
                    <a:pt x="17183" y="340615"/>
                  </a:cubicBezTo>
                  <a:lnTo>
                    <a:pt x="340615" y="17183"/>
                  </a:lnTo>
                  <a:cubicBezTo>
                    <a:pt x="363526" y="-5728"/>
                    <a:pt x="400672" y="-5728"/>
                    <a:pt x="423583" y="17183"/>
                  </a:cubicBezTo>
                  <a:close/>
                </a:path>
              </a:pathLst>
            </a:custGeom>
            <a:blipFill>
              <a:blip r:embed="rId9"/>
              <a:stretch>
                <a:fillRect l="-25046" t="0" r="-25046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464950" y="1244716"/>
            <a:ext cx="2180247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22682" y="1244716"/>
            <a:ext cx="244263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63024" y="1244716"/>
            <a:ext cx="1943613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27333" y="2981330"/>
            <a:ext cx="6971503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CLASIFICACIÓN DE LOS SISTEMAS DE INFORMACIÓN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24247" y="2952755"/>
            <a:ext cx="6817900" cy="2449872"/>
            <a:chOff x="0" y="0"/>
            <a:chExt cx="1795661" cy="6452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95661" cy="645234"/>
            </a:xfrm>
            <a:custGeom>
              <a:avLst/>
              <a:gdLst/>
              <a:ahLst/>
              <a:cxnLst/>
              <a:rect r="r" b="b" t="t" l="l"/>
              <a:pathLst>
                <a:path h="645234" w="1795661">
                  <a:moveTo>
                    <a:pt x="22711" y="0"/>
                  </a:moveTo>
                  <a:lnTo>
                    <a:pt x="1772950" y="0"/>
                  </a:lnTo>
                  <a:cubicBezTo>
                    <a:pt x="1778974" y="0"/>
                    <a:pt x="1784750" y="2393"/>
                    <a:pt x="1789009" y="6652"/>
                  </a:cubicBezTo>
                  <a:cubicBezTo>
                    <a:pt x="1793268" y="10911"/>
                    <a:pt x="1795661" y="16687"/>
                    <a:pt x="1795661" y="22711"/>
                  </a:cubicBezTo>
                  <a:lnTo>
                    <a:pt x="1795661" y="622523"/>
                  </a:lnTo>
                  <a:cubicBezTo>
                    <a:pt x="1795661" y="628546"/>
                    <a:pt x="1793268" y="634323"/>
                    <a:pt x="1789009" y="638582"/>
                  </a:cubicBezTo>
                  <a:cubicBezTo>
                    <a:pt x="1784750" y="642841"/>
                    <a:pt x="1778974" y="645234"/>
                    <a:pt x="1772950" y="645234"/>
                  </a:cubicBezTo>
                  <a:lnTo>
                    <a:pt x="22711" y="645234"/>
                  </a:lnTo>
                  <a:cubicBezTo>
                    <a:pt x="10168" y="645234"/>
                    <a:pt x="0" y="635066"/>
                    <a:pt x="0" y="622523"/>
                  </a:cubicBezTo>
                  <a:lnTo>
                    <a:pt x="0" y="22711"/>
                  </a:lnTo>
                  <a:cubicBezTo>
                    <a:pt x="0" y="16687"/>
                    <a:pt x="2393" y="10911"/>
                    <a:pt x="6652" y="6652"/>
                  </a:cubicBezTo>
                  <a:cubicBezTo>
                    <a:pt x="10911" y="2393"/>
                    <a:pt x="16687" y="0"/>
                    <a:pt x="22711" y="0"/>
                  </a:cubicBezTo>
                  <a:close/>
                </a:path>
              </a:pathLst>
            </a:custGeom>
            <a:solidFill>
              <a:srgbClr val="2B37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57150"/>
              <a:ext cx="1795661" cy="588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851291" y="3951340"/>
            <a:ext cx="5763812" cy="109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1965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Ayudan a analizar información compleja para tomar decisiones estratégicas.</a:t>
            </a:r>
          </a:p>
          <a:p>
            <a:pPr algn="l" marL="0" indent="0" lvl="0">
              <a:lnSpc>
                <a:spcPts val="2948"/>
              </a:lnSpc>
              <a:spcBef>
                <a:spcPct val="0"/>
              </a:spcBef>
            </a:pPr>
            <a:r>
              <a:rPr lang="en-US" sz="1965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Permiten evaluar diferentes escenarios.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61731" y="8958515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8" y="0"/>
                </a:lnTo>
                <a:lnTo>
                  <a:pt x="1133938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584629" y="2657967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6" y="0"/>
                </a:lnTo>
                <a:lnTo>
                  <a:pt x="1115036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841766" y="3228492"/>
            <a:ext cx="5394148" cy="53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Sistemas de Apoyo a Decisiones (DSS)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65318" y="6774226"/>
            <a:ext cx="5048270" cy="14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7"/>
              </a:lnSpc>
            </a:pPr>
            <a:r>
              <a:rPr lang="en-US" sz="2571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Un sistema que analiza costos y tiempos para decidir si un proyecto es rentable.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2147" y="1179582"/>
            <a:ext cx="419912" cy="419912"/>
          </a:xfrm>
          <a:custGeom>
            <a:avLst/>
            <a:gdLst/>
            <a:ahLst/>
            <a:cxnLst/>
            <a:rect r="r" b="b" t="t" l="l"/>
            <a:pathLst>
              <a:path h="419912" w="419912">
                <a:moveTo>
                  <a:pt x="0" y="0"/>
                </a:moveTo>
                <a:lnTo>
                  <a:pt x="419912" y="0"/>
                </a:lnTo>
                <a:lnTo>
                  <a:pt x="419912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01993" y="1179582"/>
            <a:ext cx="357307" cy="419912"/>
          </a:xfrm>
          <a:custGeom>
            <a:avLst/>
            <a:gdLst/>
            <a:ahLst/>
            <a:cxnLst/>
            <a:rect r="r" b="b" t="t" l="l"/>
            <a:pathLst>
              <a:path h="419912" w="357307">
                <a:moveTo>
                  <a:pt x="0" y="0"/>
                </a:moveTo>
                <a:lnTo>
                  <a:pt x="357307" y="0"/>
                </a:lnTo>
                <a:lnTo>
                  <a:pt x="357307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86249"/>
            <a:ext cx="358803" cy="539185"/>
          </a:xfrm>
          <a:custGeom>
            <a:avLst/>
            <a:gdLst/>
            <a:ahLst/>
            <a:cxnLst/>
            <a:rect r="r" b="b" t="t" l="l"/>
            <a:pathLst>
              <a:path h="539185" w="358803">
                <a:moveTo>
                  <a:pt x="0" y="0"/>
                </a:moveTo>
                <a:lnTo>
                  <a:pt x="358803" y="0"/>
                </a:lnTo>
                <a:lnTo>
                  <a:pt x="358803" y="539185"/>
                </a:lnTo>
                <a:lnTo>
                  <a:pt x="0" y="539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37266" y="5181600"/>
            <a:ext cx="3431011" cy="34310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4301" y="24301"/>
              <a:ext cx="764198" cy="764198"/>
            </a:xfrm>
            <a:custGeom>
              <a:avLst/>
              <a:gdLst/>
              <a:ahLst/>
              <a:cxnLst/>
              <a:rect r="r" b="b" t="t" l="l"/>
              <a:pathLst>
                <a:path h="764198" w="764198">
                  <a:moveTo>
                    <a:pt x="423583" y="17183"/>
                  </a:moveTo>
                  <a:lnTo>
                    <a:pt x="747015" y="340615"/>
                  </a:lnTo>
                  <a:cubicBezTo>
                    <a:pt x="769926" y="363526"/>
                    <a:pt x="769926" y="400672"/>
                    <a:pt x="747015" y="423583"/>
                  </a:cubicBezTo>
                  <a:lnTo>
                    <a:pt x="423583" y="747015"/>
                  </a:lnTo>
                  <a:cubicBezTo>
                    <a:pt x="400672" y="769926"/>
                    <a:pt x="363526" y="769926"/>
                    <a:pt x="340615" y="747015"/>
                  </a:cubicBezTo>
                  <a:lnTo>
                    <a:pt x="17183" y="423583"/>
                  </a:lnTo>
                  <a:cubicBezTo>
                    <a:pt x="-5728" y="400672"/>
                    <a:pt x="-5728" y="363526"/>
                    <a:pt x="17183" y="340615"/>
                  </a:cubicBezTo>
                  <a:lnTo>
                    <a:pt x="340615" y="17183"/>
                  </a:lnTo>
                  <a:cubicBezTo>
                    <a:pt x="363526" y="-5728"/>
                    <a:pt x="400672" y="-5728"/>
                    <a:pt x="423583" y="17183"/>
                  </a:cubicBezTo>
                  <a:close/>
                </a:path>
              </a:pathLst>
            </a:custGeom>
            <a:blipFill>
              <a:blip r:embed="rId8"/>
              <a:stretch>
                <a:fillRect l="-25046" t="0" r="-25046" b="0"/>
              </a:stretch>
            </a:blipFill>
            <a:ln w="133350" cap="rnd">
              <a:solidFill>
                <a:srgbClr val="D9FE54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5176451" y="5181600"/>
            <a:ext cx="3431011" cy="343101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4301" y="24301"/>
              <a:ext cx="764198" cy="764198"/>
            </a:xfrm>
            <a:custGeom>
              <a:avLst/>
              <a:gdLst/>
              <a:ahLst/>
              <a:cxnLst/>
              <a:rect r="r" b="b" t="t" l="l"/>
              <a:pathLst>
                <a:path h="764198" w="764198">
                  <a:moveTo>
                    <a:pt x="423583" y="17183"/>
                  </a:moveTo>
                  <a:lnTo>
                    <a:pt x="747015" y="340615"/>
                  </a:lnTo>
                  <a:cubicBezTo>
                    <a:pt x="769926" y="363526"/>
                    <a:pt x="769926" y="400672"/>
                    <a:pt x="747015" y="423583"/>
                  </a:cubicBezTo>
                  <a:lnTo>
                    <a:pt x="423583" y="747015"/>
                  </a:lnTo>
                  <a:cubicBezTo>
                    <a:pt x="400672" y="769926"/>
                    <a:pt x="363526" y="769926"/>
                    <a:pt x="340615" y="747015"/>
                  </a:cubicBezTo>
                  <a:lnTo>
                    <a:pt x="17183" y="423583"/>
                  </a:lnTo>
                  <a:cubicBezTo>
                    <a:pt x="-5728" y="400672"/>
                    <a:pt x="-5728" y="363526"/>
                    <a:pt x="17183" y="340615"/>
                  </a:cubicBezTo>
                  <a:lnTo>
                    <a:pt x="340615" y="17183"/>
                  </a:lnTo>
                  <a:cubicBezTo>
                    <a:pt x="363526" y="-5728"/>
                    <a:pt x="400672" y="-5728"/>
                    <a:pt x="423583" y="17183"/>
                  </a:cubicBezTo>
                  <a:close/>
                </a:path>
              </a:pathLst>
            </a:custGeom>
            <a:blipFill>
              <a:blip r:embed="rId9"/>
              <a:stretch>
                <a:fillRect l="-25046" t="0" r="-25046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464950" y="1244716"/>
            <a:ext cx="2180247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22682" y="1244716"/>
            <a:ext cx="244263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63024" y="1244716"/>
            <a:ext cx="1943613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27333" y="2981330"/>
            <a:ext cx="6971503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CLASIFICACIÓN DE LOS SISTEMAS DE INFORMACIÓN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24247" y="2952755"/>
            <a:ext cx="6817900" cy="2449872"/>
            <a:chOff x="0" y="0"/>
            <a:chExt cx="1795661" cy="6452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95661" cy="645234"/>
            </a:xfrm>
            <a:custGeom>
              <a:avLst/>
              <a:gdLst/>
              <a:ahLst/>
              <a:cxnLst/>
              <a:rect r="r" b="b" t="t" l="l"/>
              <a:pathLst>
                <a:path h="645234" w="1795661">
                  <a:moveTo>
                    <a:pt x="22711" y="0"/>
                  </a:moveTo>
                  <a:lnTo>
                    <a:pt x="1772950" y="0"/>
                  </a:lnTo>
                  <a:cubicBezTo>
                    <a:pt x="1778974" y="0"/>
                    <a:pt x="1784750" y="2393"/>
                    <a:pt x="1789009" y="6652"/>
                  </a:cubicBezTo>
                  <a:cubicBezTo>
                    <a:pt x="1793268" y="10911"/>
                    <a:pt x="1795661" y="16687"/>
                    <a:pt x="1795661" y="22711"/>
                  </a:cubicBezTo>
                  <a:lnTo>
                    <a:pt x="1795661" y="622523"/>
                  </a:lnTo>
                  <a:cubicBezTo>
                    <a:pt x="1795661" y="628546"/>
                    <a:pt x="1793268" y="634323"/>
                    <a:pt x="1789009" y="638582"/>
                  </a:cubicBezTo>
                  <a:cubicBezTo>
                    <a:pt x="1784750" y="642841"/>
                    <a:pt x="1778974" y="645234"/>
                    <a:pt x="1772950" y="645234"/>
                  </a:cubicBezTo>
                  <a:lnTo>
                    <a:pt x="22711" y="645234"/>
                  </a:lnTo>
                  <a:cubicBezTo>
                    <a:pt x="10168" y="645234"/>
                    <a:pt x="0" y="635066"/>
                    <a:pt x="0" y="622523"/>
                  </a:cubicBezTo>
                  <a:lnTo>
                    <a:pt x="0" y="22711"/>
                  </a:lnTo>
                  <a:cubicBezTo>
                    <a:pt x="0" y="16687"/>
                    <a:pt x="2393" y="10911"/>
                    <a:pt x="6652" y="6652"/>
                  </a:cubicBezTo>
                  <a:cubicBezTo>
                    <a:pt x="10911" y="2393"/>
                    <a:pt x="16687" y="0"/>
                    <a:pt x="22711" y="0"/>
                  </a:cubicBezTo>
                  <a:close/>
                </a:path>
              </a:pathLst>
            </a:custGeom>
            <a:solidFill>
              <a:srgbClr val="2B37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57150"/>
              <a:ext cx="1795661" cy="588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803666" y="3827515"/>
            <a:ext cx="6290856" cy="1470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1965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Están diseñados para directivos o altos ejecutivos.</a:t>
            </a:r>
          </a:p>
          <a:p>
            <a:pPr algn="l" marL="0" indent="0" lvl="0">
              <a:lnSpc>
                <a:spcPts val="2948"/>
              </a:lnSpc>
              <a:spcBef>
                <a:spcPct val="0"/>
              </a:spcBef>
            </a:pPr>
            <a:r>
              <a:rPr lang="en-US" sz="1965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Presentan información resumida y estratégica mediante gráficos y indicadores.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61731" y="8958515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8" y="0"/>
                </a:lnTo>
                <a:lnTo>
                  <a:pt x="1133938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584629" y="2657967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6" y="0"/>
                </a:lnTo>
                <a:lnTo>
                  <a:pt x="1115036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803666" y="3161817"/>
            <a:ext cx="5394148" cy="53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Sistemas de Información Ejecutiva (EIS)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50046" y="6393226"/>
            <a:ext cx="6998097" cy="281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sz="2136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Ejemplo:</a:t>
            </a:r>
          </a:p>
          <a:p>
            <a:pPr algn="l">
              <a:lnSpc>
                <a:spcPts val="3204"/>
              </a:lnSpc>
            </a:pPr>
            <a:r>
              <a:rPr lang="en-US" sz="2136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Un panel de contr</a:t>
            </a:r>
            <a:r>
              <a:rPr lang="en-US" sz="2136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ol donde el director de la empresa puede ver:</a:t>
            </a:r>
          </a:p>
          <a:p>
            <a:pPr algn="l">
              <a:lnSpc>
                <a:spcPts val="3204"/>
              </a:lnSpc>
            </a:pPr>
          </a:p>
          <a:p>
            <a:pPr algn="ctr">
              <a:lnSpc>
                <a:spcPts val="3204"/>
              </a:lnSpc>
            </a:pPr>
            <a:r>
              <a:rPr lang="en-US" sz="2136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 proyectos activos</a:t>
            </a:r>
          </a:p>
          <a:p>
            <a:pPr algn="ctr">
              <a:lnSpc>
                <a:spcPts val="3204"/>
              </a:lnSpc>
            </a:pPr>
            <a:r>
              <a:rPr lang="en-US" sz="2136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 ingresos</a:t>
            </a:r>
          </a:p>
          <a:p>
            <a:pPr algn="ctr" marL="0" indent="0" lvl="0">
              <a:lnSpc>
                <a:spcPts val="3204"/>
              </a:lnSpc>
              <a:spcBef>
                <a:spcPct val="0"/>
              </a:spcBef>
            </a:pPr>
            <a:r>
              <a:rPr lang="en-US" sz="2136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rendimiento de los equipos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80010" y="2725954"/>
            <a:ext cx="7774456" cy="256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0"/>
              </a:lnSpc>
            </a:pPr>
            <a:r>
              <a:rPr lang="en-US" sz="4600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EJEMPLO APLICADO EN UNA EMPRESA DE DESARROLLO DE SOFTWARE</a:t>
            </a:r>
          </a:p>
          <a:p>
            <a:pPr algn="l">
              <a:lnSpc>
                <a:spcPts val="506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142147" y="1179582"/>
            <a:ext cx="419912" cy="419912"/>
          </a:xfrm>
          <a:custGeom>
            <a:avLst/>
            <a:gdLst/>
            <a:ahLst/>
            <a:cxnLst/>
            <a:rect r="r" b="b" t="t" l="l"/>
            <a:pathLst>
              <a:path h="419912" w="419912">
                <a:moveTo>
                  <a:pt x="0" y="0"/>
                </a:moveTo>
                <a:lnTo>
                  <a:pt x="419912" y="0"/>
                </a:lnTo>
                <a:lnTo>
                  <a:pt x="419912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01993" y="1179582"/>
            <a:ext cx="357307" cy="419912"/>
          </a:xfrm>
          <a:custGeom>
            <a:avLst/>
            <a:gdLst/>
            <a:ahLst/>
            <a:cxnLst/>
            <a:rect r="r" b="b" t="t" l="l"/>
            <a:pathLst>
              <a:path h="419912" w="357307">
                <a:moveTo>
                  <a:pt x="0" y="0"/>
                </a:moveTo>
                <a:lnTo>
                  <a:pt x="357307" y="0"/>
                </a:lnTo>
                <a:lnTo>
                  <a:pt x="357307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86249"/>
            <a:ext cx="358803" cy="539185"/>
          </a:xfrm>
          <a:custGeom>
            <a:avLst/>
            <a:gdLst/>
            <a:ahLst/>
            <a:cxnLst/>
            <a:rect r="r" b="b" t="t" l="l"/>
            <a:pathLst>
              <a:path h="539185" w="358803">
                <a:moveTo>
                  <a:pt x="0" y="0"/>
                </a:moveTo>
                <a:lnTo>
                  <a:pt x="358803" y="0"/>
                </a:lnTo>
                <a:lnTo>
                  <a:pt x="358803" y="539185"/>
                </a:lnTo>
                <a:lnTo>
                  <a:pt x="0" y="539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64950" y="1244716"/>
            <a:ext cx="2180247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SERVICE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22682" y="1244716"/>
            <a:ext cx="244263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ABOUT US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63024" y="1244716"/>
            <a:ext cx="1943613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HOME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87503" y="2493148"/>
            <a:ext cx="5921698" cy="592169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4080" y="14080"/>
              <a:ext cx="784640" cy="784640"/>
            </a:xfrm>
            <a:custGeom>
              <a:avLst/>
              <a:gdLst/>
              <a:ahLst/>
              <a:cxnLst/>
              <a:rect r="r" b="b" t="t" l="l"/>
              <a:pathLst>
                <a:path h="784640" w="784640">
                  <a:moveTo>
                    <a:pt x="416356" y="9956"/>
                  </a:moveTo>
                  <a:lnTo>
                    <a:pt x="774684" y="368284"/>
                  </a:lnTo>
                  <a:cubicBezTo>
                    <a:pt x="781059" y="374659"/>
                    <a:pt x="784640" y="383305"/>
                    <a:pt x="784640" y="392320"/>
                  </a:cubicBezTo>
                  <a:cubicBezTo>
                    <a:pt x="784640" y="401335"/>
                    <a:pt x="781059" y="409981"/>
                    <a:pt x="774684" y="416356"/>
                  </a:cubicBezTo>
                  <a:lnTo>
                    <a:pt x="416356" y="774684"/>
                  </a:lnTo>
                  <a:cubicBezTo>
                    <a:pt x="409981" y="781059"/>
                    <a:pt x="401335" y="784640"/>
                    <a:pt x="392320" y="784640"/>
                  </a:cubicBezTo>
                  <a:cubicBezTo>
                    <a:pt x="383305" y="784640"/>
                    <a:pt x="374659" y="781059"/>
                    <a:pt x="368284" y="774684"/>
                  </a:cubicBezTo>
                  <a:lnTo>
                    <a:pt x="9956" y="416356"/>
                  </a:lnTo>
                  <a:cubicBezTo>
                    <a:pt x="3581" y="409981"/>
                    <a:pt x="0" y="401335"/>
                    <a:pt x="0" y="392320"/>
                  </a:cubicBezTo>
                  <a:cubicBezTo>
                    <a:pt x="0" y="383305"/>
                    <a:pt x="3581" y="374659"/>
                    <a:pt x="9956" y="368284"/>
                  </a:cubicBezTo>
                  <a:lnTo>
                    <a:pt x="368284" y="9956"/>
                  </a:lnTo>
                  <a:cubicBezTo>
                    <a:pt x="374659" y="3581"/>
                    <a:pt x="383305" y="0"/>
                    <a:pt x="392320" y="0"/>
                  </a:cubicBezTo>
                  <a:cubicBezTo>
                    <a:pt x="401335" y="0"/>
                    <a:pt x="409981" y="3581"/>
                    <a:pt x="416356" y="9956"/>
                  </a:cubicBezTo>
                  <a:close/>
                </a:path>
              </a:pathLst>
            </a:custGeom>
            <a:blipFill>
              <a:blip r:embed="rId8"/>
              <a:stretch>
                <a:fillRect l="-38888" t="0" r="-38888" b="0"/>
              </a:stretch>
            </a:blipFill>
            <a:ln w="190500" cap="rnd">
              <a:solidFill>
                <a:srgbClr val="D9FE54"/>
              </a:solidFill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7922682" y="5530197"/>
            <a:ext cx="3991095" cy="83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9"/>
              </a:lnSpc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Imaginemos una empresa que desarrolla aplicaciones móviles.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54442" y="5099337"/>
            <a:ext cx="4924736" cy="379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0"/>
              </a:lnSpc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TPS:</a:t>
            </a:r>
          </a:p>
          <a:p>
            <a:pPr algn="l">
              <a:lnSpc>
                <a:spcPts val="1720"/>
              </a:lnSpc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Registra tareas, incidencias y cambios realizados en el código.</a:t>
            </a:r>
          </a:p>
          <a:p>
            <a:pPr algn="l">
              <a:lnSpc>
                <a:spcPts val="1720"/>
              </a:lnSpc>
            </a:pPr>
          </a:p>
          <a:p>
            <a:pPr algn="l">
              <a:lnSpc>
                <a:spcPts val="1720"/>
              </a:lnSpc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MIS:</a:t>
            </a:r>
          </a:p>
          <a:p>
            <a:pPr algn="l">
              <a:lnSpc>
                <a:spcPts val="1720"/>
              </a:lnSpc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Genera reportes de progreso de los proyectos y desempeño del equipo.</a:t>
            </a:r>
          </a:p>
          <a:p>
            <a:pPr algn="l">
              <a:lnSpc>
                <a:spcPts val="1720"/>
              </a:lnSpc>
            </a:pPr>
          </a:p>
          <a:p>
            <a:pPr algn="l">
              <a:lnSpc>
                <a:spcPts val="1720"/>
              </a:lnSpc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DSS:</a:t>
            </a:r>
          </a:p>
          <a:p>
            <a:pPr algn="l">
              <a:lnSpc>
                <a:spcPts val="1720"/>
              </a:lnSpc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Analiza costos y tiempos para decidir si aceptar un nuevo proyecto.</a:t>
            </a:r>
          </a:p>
          <a:p>
            <a:pPr algn="l">
              <a:lnSpc>
                <a:spcPts val="1720"/>
              </a:lnSpc>
            </a:pPr>
          </a:p>
          <a:p>
            <a:pPr algn="l">
              <a:lnSpc>
                <a:spcPts val="1720"/>
              </a:lnSpc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EIS:</a:t>
            </a:r>
          </a:p>
          <a:p>
            <a:pPr algn="l">
              <a:lnSpc>
                <a:spcPts val="1720"/>
              </a:lnSpc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Permite al gerente ver indicadores clave como rentabilidad, número de proyectos y estado general de la empresa.</a:t>
            </a:r>
          </a:p>
          <a:p>
            <a:pPr algn="l">
              <a:lnSpc>
                <a:spcPts val="172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922682" y="6628017"/>
            <a:ext cx="3806388" cy="1186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Los sistemas de información se utilizan de la siguiente manera: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92699" y="8523545"/>
            <a:ext cx="1389608" cy="734755"/>
          </a:xfrm>
          <a:custGeom>
            <a:avLst/>
            <a:gdLst/>
            <a:ahLst/>
            <a:cxnLst/>
            <a:rect r="r" b="b" t="t" l="l"/>
            <a:pathLst>
              <a:path h="734755" w="1389608">
                <a:moveTo>
                  <a:pt x="0" y="0"/>
                </a:moveTo>
                <a:lnTo>
                  <a:pt x="1389608" y="0"/>
                </a:lnTo>
                <a:lnTo>
                  <a:pt x="1389608" y="734755"/>
                </a:lnTo>
                <a:lnTo>
                  <a:pt x="0" y="7347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352103" y="2493148"/>
            <a:ext cx="1240872" cy="656111"/>
          </a:xfrm>
          <a:custGeom>
            <a:avLst/>
            <a:gdLst/>
            <a:ahLst/>
            <a:cxnLst/>
            <a:rect r="r" b="b" t="t" l="l"/>
            <a:pathLst>
              <a:path h="656111" w="1240872">
                <a:moveTo>
                  <a:pt x="0" y="0"/>
                </a:moveTo>
                <a:lnTo>
                  <a:pt x="1240872" y="0"/>
                </a:lnTo>
                <a:lnTo>
                  <a:pt x="1240872" y="656111"/>
                </a:lnTo>
                <a:lnTo>
                  <a:pt x="0" y="6561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2147" y="1179582"/>
            <a:ext cx="419912" cy="419912"/>
          </a:xfrm>
          <a:custGeom>
            <a:avLst/>
            <a:gdLst/>
            <a:ahLst/>
            <a:cxnLst/>
            <a:rect r="r" b="b" t="t" l="l"/>
            <a:pathLst>
              <a:path h="419912" w="419912">
                <a:moveTo>
                  <a:pt x="0" y="0"/>
                </a:moveTo>
                <a:lnTo>
                  <a:pt x="419912" y="0"/>
                </a:lnTo>
                <a:lnTo>
                  <a:pt x="419912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01993" y="1179582"/>
            <a:ext cx="357307" cy="419912"/>
          </a:xfrm>
          <a:custGeom>
            <a:avLst/>
            <a:gdLst/>
            <a:ahLst/>
            <a:cxnLst/>
            <a:rect r="r" b="b" t="t" l="l"/>
            <a:pathLst>
              <a:path h="419912" w="357307">
                <a:moveTo>
                  <a:pt x="0" y="0"/>
                </a:moveTo>
                <a:lnTo>
                  <a:pt x="357307" y="0"/>
                </a:lnTo>
                <a:lnTo>
                  <a:pt x="357307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86249"/>
            <a:ext cx="358803" cy="539185"/>
          </a:xfrm>
          <a:custGeom>
            <a:avLst/>
            <a:gdLst/>
            <a:ahLst/>
            <a:cxnLst/>
            <a:rect r="r" b="b" t="t" l="l"/>
            <a:pathLst>
              <a:path h="539185" w="358803">
                <a:moveTo>
                  <a:pt x="0" y="0"/>
                </a:moveTo>
                <a:lnTo>
                  <a:pt x="358803" y="0"/>
                </a:lnTo>
                <a:lnTo>
                  <a:pt x="358803" y="539185"/>
                </a:lnTo>
                <a:lnTo>
                  <a:pt x="0" y="539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464950" y="2408954"/>
            <a:ext cx="5887153" cy="588715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163" y="14163"/>
              <a:ext cx="784475" cy="784475"/>
            </a:xfrm>
            <a:custGeom>
              <a:avLst/>
              <a:gdLst/>
              <a:ahLst/>
              <a:cxnLst/>
              <a:rect r="r" b="b" t="t" l="l"/>
              <a:pathLst>
                <a:path h="784475" w="784475">
                  <a:moveTo>
                    <a:pt x="416414" y="10014"/>
                  </a:moveTo>
                  <a:lnTo>
                    <a:pt x="774460" y="368060"/>
                  </a:lnTo>
                  <a:cubicBezTo>
                    <a:pt x="787813" y="381413"/>
                    <a:pt x="787813" y="403061"/>
                    <a:pt x="774460" y="416414"/>
                  </a:cubicBezTo>
                  <a:lnTo>
                    <a:pt x="416414" y="774460"/>
                  </a:lnTo>
                  <a:cubicBezTo>
                    <a:pt x="403061" y="787813"/>
                    <a:pt x="381413" y="787813"/>
                    <a:pt x="368060" y="774460"/>
                  </a:cubicBezTo>
                  <a:lnTo>
                    <a:pt x="10014" y="416414"/>
                  </a:lnTo>
                  <a:cubicBezTo>
                    <a:pt x="-3339" y="403061"/>
                    <a:pt x="-3339" y="381413"/>
                    <a:pt x="10014" y="368060"/>
                  </a:cubicBezTo>
                  <a:lnTo>
                    <a:pt x="368060" y="10014"/>
                  </a:lnTo>
                  <a:cubicBezTo>
                    <a:pt x="381413" y="-3339"/>
                    <a:pt x="403061" y="-3339"/>
                    <a:pt x="416414" y="10014"/>
                  </a:cubicBezTo>
                  <a:close/>
                </a:path>
              </a:pathLst>
            </a:custGeom>
            <a:blipFill>
              <a:blip r:embed="rId8"/>
              <a:stretch>
                <a:fillRect l="-25046" t="0" r="-25046" b="0"/>
              </a:stretch>
            </a:blipFill>
            <a:ln w="190500" cap="rnd">
              <a:solidFill>
                <a:srgbClr val="D9FE54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344423" y="4399847"/>
            <a:ext cx="5887153" cy="588715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4163" y="14163"/>
              <a:ext cx="784475" cy="784475"/>
            </a:xfrm>
            <a:custGeom>
              <a:avLst/>
              <a:gdLst/>
              <a:ahLst/>
              <a:cxnLst/>
              <a:rect r="r" b="b" t="t" l="l"/>
              <a:pathLst>
                <a:path h="784475" w="784475">
                  <a:moveTo>
                    <a:pt x="416414" y="10014"/>
                  </a:moveTo>
                  <a:lnTo>
                    <a:pt x="774460" y="368060"/>
                  </a:lnTo>
                  <a:cubicBezTo>
                    <a:pt x="787813" y="381413"/>
                    <a:pt x="787813" y="403061"/>
                    <a:pt x="774460" y="416414"/>
                  </a:cubicBezTo>
                  <a:lnTo>
                    <a:pt x="416414" y="774460"/>
                  </a:lnTo>
                  <a:cubicBezTo>
                    <a:pt x="403061" y="787813"/>
                    <a:pt x="381413" y="787813"/>
                    <a:pt x="368060" y="774460"/>
                  </a:cubicBezTo>
                  <a:lnTo>
                    <a:pt x="10014" y="416414"/>
                  </a:lnTo>
                  <a:cubicBezTo>
                    <a:pt x="-3339" y="403061"/>
                    <a:pt x="-3339" y="381413"/>
                    <a:pt x="10014" y="368060"/>
                  </a:cubicBezTo>
                  <a:lnTo>
                    <a:pt x="368060" y="10014"/>
                  </a:lnTo>
                  <a:cubicBezTo>
                    <a:pt x="381413" y="-3339"/>
                    <a:pt x="403061" y="-3339"/>
                    <a:pt x="416414" y="10014"/>
                  </a:cubicBezTo>
                  <a:close/>
                </a:path>
              </a:pathLst>
            </a:custGeom>
            <a:blipFill>
              <a:blip r:embed="rId9"/>
              <a:stretch>
                <a:fillRect l="-25046" t="0" r="-25046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464950" y="1244716"/>
            <a:ext cx="2180247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22682" y="1244716"/>
            <a:ext cx="244263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63024" y="1244716"/>
            <a:ext cx="1943613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59343" y="2456579"/>
            <a:ext cx="535909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b="true" sz="5999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CONCLUSIÓN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4206" y="5648979"/>
            <a:ext cx="6369372" cy="169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87"/>
              </a:lnSpc>
            </a:pPr>
            <a:r>
              <a:rPr lang="en-US" b="true" sz="1962" i="true">
                <a:solidFill>
                  <a:srgbClr val="D9FE54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* gestionar grandes volúmenes de información</a:t>
            </a:r>
          </a:p>
          <a:p>
            <a:pPr algn="just">
              <a:lnSpc>
                <a:spcPts val="1687"/>
              </a:lnSpc>
            </a:pPr>
          </a:p>
          <a:p>
            <a:pPr algn="just">
              <a:lnSpc>
                <a:spcPts val="1687"/>
              </a:lnSpc>
            </a:pPr>
            <a:r>
              <a:rPr lang="en-US" b="true" sz="1962" i="true">
                <a:solidFill>
                  <a:srgbClr val="D9FE54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* mejorar la eficiencia empresarial</a:t>
            </a:r>
          </a:p>
          <a:p>
            <a:pPr algn="just">
              <a:lnSpc>
                <a:spcPts val="1687"/>
              </a:lnSpc>
            </a:pPr>
          </a:p>
          <a:p>
            <a:pPr algn="just">
              <a:lnSpc>
                <a:spcPts val="1687"/>
              </a:lnSpc>
            </a:pPr>
            <a:r>
              <a:rPr lang="en-US" b="true" sz="1962" i="true">
                <a:solidFill>
                  <a:srgbClr val="D9FE54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* apoyar la toma de decisiones</a:t>
            </a:r>
          </a:p>
          <a:p>
            <a:pPr algn="just">
              <a:lnSpc>
                <a:spcPts val="1687"/>
              </a:lnSpc>
            </a:pPr>
          </a:p>
          <a:p>
            <a:pPr algn="just">
              <a:lnSpc>
                <a:spcPts val="1687"/>
              </a:lnSpc>
            </a:pPr>
            <a:r>
              <a:rPr lang="en-US" b="true" sz="1962" i="true">
                <a:solidFill>
                  <a:srgbClr val="D9FE54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* automatizar procesos</a:t>
            </a:r>
          </a:p>
          <a:p>
            <a:pPr algn="just">
              <a:lnSpc>
                <a:spcPts val="168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556992"/>
            <a:ext cx="7434767" cy="1885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Los sistemas de información son herramientas fundam</a:t>
            </a: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entales para el funcionamiento de las organizaciones modernas.</a:t>
            </a:r>
          </a:p>
          <a:p>
            <a:pPr algn="just">
              <a:lnSpc>
                <a:spcPts val="3000"/>
              </a:lnSpc>
            </a:pPr>
          </a:p>
          <a:p>
            <a:pPr algn="just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Permiten: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344475" y="2704883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6" y="0"/>
                </a:lnTo>
                <a:lnTo>
                  <a:pt x="1115036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21508" y="7753351"/>
            <a:ext cx="7434767" cy="1504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En empresas de tecnología y desarrollo de software, los sistemas de información son esenciales para coordinar equipos, administrar proyectos y garantizar la calidad del software.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2147" y="1179582"/>
            <a:ext cx="419912" cy="419912"/>
          </a:xfrm>
          <a:custGeom>
            <a:avLst/>
            <a:gdLst/>
            <a:ahLst/>
            <a:cxnLst/>
            <a:rect r="r" b="b" t="t" l="l"/>
            <a:pathLst>
              <a:path h="419912" w="419912">
                <a:moveTo>
                  <a:pt x="0" y="0"/>
                </a:moveTo>
                <a:lnTo>
                  <a:pt x="419912" y="0"/>
                </a:lnTo>
                <a:lnTo>
                  <a:pt x="419912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01993" y="1179582"/>
            <a:ext cx="357307" cy="419912"/>
          </a:xfrm>
          <a:custGeom>
            <a:avLst/>
            <a:gdLst/>
            <a:ahLst/>
            <a:cxnLst/>
            <a:rect r="r" b="b" t="t" l="l"/>
            <a:pathLst>
              <a:path h="419912" w="357307">
                <a:moveTo>
                  <a:pt x="0" y="0"/>
                </a:moveTo>
                <a:lnTo>
                  <a:pt x="357307" y="0"/>
                </a:lnTo>
                <a:lnTo>
                  <a:pt x="357307" y="419912"/>
                </a:lnTo>
                <a:lnTo>
                  <a:pt x="0" y="419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86249"/>
            <a:ext cx="358803" cy="539185"/>
          </a:xfrm>
          <a:custGeom>
            <a:avLst/>
            <a:gdLst/>
            <a:ahLst/>
            <a:cxnLst/>
            <a:rect r="r" b="b" t="t" l="l"/>
            <a:pathLst>
              <a:path h="539185" w="358803">
                <a:moveTo>
                  <a:pt x="0" y="0"/>
                </a:moveTo>
                <a:lnTo>
                  <a:pt x="358803" y="0"/>
                </a:lnTo>
                <a:lnTo>
                  <a:pt x="358803" y="539185"/>
                </a:lnTo>
                <a:lnTo>
                  <a:pt x="0" y="539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507449" y="7365808"/>
            <a:ext cx="21351072" cy="6979470"/>
            <a:chOff x="0" y="0"/>
            <a:chExt cx="5623328" cy="18382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23328" cy="1838214"/>
            </a:xfrm>
            <a:custGeom>
              <a:avLst/>
              <a:gdLst/>
              <a:ahLst/>
              <a:cxnLst/>
              <a:rect r="r" b="b" t="t" l="l"/>
              <a:pathLst>
                <a:path h="1838214" w="5623328">
                  <a:moveTo>
                    <a:pt x="0" y="0"/>
                  </a:moveTo>
                  <a:lnTo>
                    <a:pt x="5623328" y="0"/>
                  </a:lnTo>
                  <a:lnTo>
                    <a:pt x="5623328" y="1838214"/>
                  </a:lnTo>
                  <a:lnTo>
                    <a:pt x="0" y="1838214"/>
                  </a:lnTo>
                  <a:close/>
                </a:path>
              </a:pathLst>
            </a:custGeom>
            <a:gradFill rotWithShape="true">
              <a:gsLst>
                <a:gs pos="0">
                  <a:srgbClr val="D9FE54">
                    <a:alpha val="0"/>
                  </a:srgbClr>
                </a:gs>
                <a:gs pos="100000">
                  <a:srgbClr val="D9FE5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76200"/>
              <a:ext cx="5623328" cy="1762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31953" y="6979233"/>
            <a:ext cx="4512939" cy="773149"/>
            <a:chOff x="0" y="0"/>
            <a:chExt cx="1422363" cy="2436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2363" cy="243677"/>
            </a:xfrm>
            <a:custGeom>
              <a:avLst/>
              <a:gdLst/>
              <a:ahLst/>
              <a:cxnLst/>
              <a:rect r="r" b="b" t="t" l="l"/>
              <a:pathLst>
                <a:path h="243677" w="1422363">
                  <a:moveTo>
                    <a:pt x="121838" y="0"/>
                  </a:moveTo>
                  <a:lnTo>
                    <a:pt x="1300524" y="0"/>
                  </a:lnTo>
                  <a:cubicBezTo>
                    <a:pt x="1367814" y="0"/>
                    <a:pt x="1422363" y="54549"/>
                    <a:pt x="1422363" y="121838"/>
                  </a:cubicBezTo>
                  <a:lnTo>
                    <a:pt x="1422363" y="121838"/>
                  </a:lnTo>
                  <a:cubicBezTo>
                    <a:pt x="1422363" y="154152"/>
                    <a:pt x="1409526" y="185142"/>
                    <a:pt x="1386677" y="207991"/>
                  </a:cubicBezTo>
                  <a:cubicBezTo>
                    <a:pt x="1363828" y="230840"/>
                    <a:pt x="1332838" y="243677"/>
                    <a:pt x="1300524" y="243677"/>
                  </a:cubicBezTo>
                  <a:lnTo>
                    <a:pt x="121838" y="243677"/>
                  </a:lnTo>
                  <a:cubicBezTo>
                    <a:pt x="89525" y="243677"/>
                    <a:pt x="58535" y="230840"/>
                    <a:pt x="35686" y="207991"/>
                  </a:cubicBezTo>
                  <a:cubicBezTo>
                    <a:pt x="12837" y="185142"/>
                    <a:pt x="0" y="154152"/>
                    <a:pt x="0" y="121838"/>
                  </a:cubicBezTo>
                  <a:lnTo>
                    <a:pt x="0" y="121838"/>
                  </a:lnTo>
                  <a:cubicBezTo>
                    <a:pt x="0" y="89525"/>
                    <a:pt x="12837" y="58535"/>
                    <a:pt x="35686" y="35686"/>
                  </a:cubicBezTo>
                  <a:cubicBezTo>
                    <a:pt x="58535" y="12837"/>
                    <a:pt x="89525" y="0"/>
                    <a:pt x="121838" y="0"/>
                  </a:cubicBezTo>
                  <a:close/>
                </a:path>
              </a:pathLst>
            </a:custGeom>
            <a:ln w="19050" cap="rnd">
              <a:solidFill>
                <a:srgbClr val="D9FE54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422363" cy="310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464950" y="1244716"/>
            <a:ext cx="2180247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SERVICE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22682" y="1244716"/>
            <a:ext cx="244263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34902"/>
                  </a:srgbClr>
                </a:solidFill>
                <a:latin typeface="Garet"/>
                <a:ea typeface="Garet"/>
                <a:cs typeface="Garet"/>
                <a:sym typeface="Garet"/>
              </a:rPr>
              <a:t>ABOUT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63024" y="1244716"/>
            <a:ext cx="1943613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HOME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54265" y="7225809"/>
            <a:ext cx="2796272" cy="50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2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HASTA LA PRÓXIMA</a:t>
            </a:r>
          </a:p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431279" y="3032802"/>
            <a:ext cx="5162669" cy="138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1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Los</a:t>
            </a:r>
            <a:r>
              <a:rPr lang="en-US" sz="1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sistemas de información se organizan en tipos que apoyan desde las operaciones diarias hasta la toma de decisiones estratégicas en una organización.</a:t>
            </a:r>
          </a:p>
        </p:txBody>
      </p:sp>
      <p:sp>
        <p:nvSpPr>
          <p:cNvPr name="AutoShape 16" id="16"/>
          <p:cNvSpPr/>
          <p:nvPr/>
        </p:nvSpPr>
        <p:spPr>
          <a:xfrm>
            <a:off x="2164861" y="3254302"/>
            <a:ext cx="0" cy="732153"/>
          </a:xfrm>
          <a:prstGeom prst="line">
            <a:avLst/>
          </a:prstGeom>
          <a:ln cap="rnd" w="38100">
            <a:solidFill>
              <a:srgbClr val="D9FE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6614869" y="7839172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9" y="0"/>
                </a:lnTo>
                <a:lnTo>
                  <a:pt x="1133939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034751" y="4019212"/>
            <a:ext cx="2506498" cy="2564193"/>
          </a:xfrm>
          <a:custGeom>
            <a:avLst/>
            <a:gdLst/>
            <a:ahLst/>
            <a:cxnLst/>
            <a:rect r="r" b="b" t="t" l="l"/>
            <a:pathLst>
              <a:path h="2564193" w="2506498">
                <a:moveTo>
                  <a:pt x="0" y="0"/>
                </a:moveTo>
                <a:lnTo>
                  <a:pt x="2506498" y="0"/>
                </a:lnTo>
                <a:lnTo>
                  <a:pt x="2506498" y="2564193"/>
                </a:lnTo>
                <a:lnTo>
                  <a:pt x="0" y="25641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9" id="19"/>
          <p:cNvGrpSpPr/>
          <p:nvPr/>
        </p:nvGrpSpPr>
        <p:grpSpPr>
          <a:xfrm rot="0">
            <a:off x="-3162565" y="5027853"/>
            <a:ext cx="10616753" cy="3111104"/>
            <a:chOff x="0" y="0"/>
            <a:chExt cx="1644813" cy="4819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44813" cy="481992"/>
            </a:xfrm>
            <a:custGeom>
              <a:avLst/>
              <a:gdLst/>
              <a:ahLst/>
              <a:cxnLst/>
              <a:rect r="r" b="b" t="t" l="l"/>
              <a:pathLst>
                <a:path h="481992" w="1644813">
                  <a:moveTo>
                    <a:pt x="18960" y="0"/>
                  </a:moveTo>
                  <a:lnTo>
                    <a:pt x="1625853" y="0"/>
                  </a:lnTo>
                  <a:cubicBezTo>
                    <a:pt x="1636324" y="0"/>
                    <a:pt x="1644813" y="8489"/>
                    <a:pt x="1644813" y="18960"/>
                  </a:cubicBezTo>
                  <a:lnTo>
                    <a:pt x="1644813" y="463032"/>
                  </a:lnTo>
                  <a:cubicBezTo>
                    <a:pt x="1644813" y="473503"/>
                    <a:pt x="1636324" y="481992"/>
                    <a:pt x="1625853" y="481992"/>
                  </a:cubicBezTo>
                  <a:lnTo>
                    <a:pt x="18960" y="481992"/>
                  </a:lnTo>
                  <a:cubicBezTo>
                    <a:pt x="8489" y="481992"/>
                    <a:pt x="0" y="473503"/>
                    <a:pt x="0" y="463032"/>
                  </a:cubicBezTo>
                  <a:lnTo>
                    <a:pt x="0" y="18960"/>
                  </a:lnTo>
                  <a:cubicBezTo>
                    <a:pt x="0" y="8489"/>
                    <a:pt x="8489" y="0"/>
                    <a:pt x="18960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-65994" r="0" b="-61792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-1713104" y="3861404"/>
            <a:ext cx="2506498" cy="2564193"/>
          </a:xfrm>
          <a:custGeom>
            <a:avLst/>
            <a:gdLst/>
            <a:ahLst/>
            <a:cxnLst/>
            <a:rect r="r" b="b" t="t" l="l"/>
            <a:pathLst>
              <a:path h="2564193" w="2506498">
                <a:moveTo>
                  <a:pt x="0" y="0"/>
                </a:moveTo>
                <a:lnTo>
                  <a:pt x="2506499" y="0"/>
                </a:lnTo>
                <a:lnTo>
                  <a:pt x="2506499" y="2564192"/>
                </a:lnTo>
                <a:lnTo>
                  <a:pt x="0" y="25641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2" id="22"/>
          <p:cNvSpPr txBox="true"/>
          <p:nvPr/>
        </p:nvSpPr>
        <p:spPr>
          <a:xfrm rot="0">
            <a:off x="8380850" y="3270927"/>
            <a:ext cx="8521143" cy="395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GRACIAS</a:t>
            </a:r>
          </a:p>
          <a:p>
            <a:pPr algn="l">
              <a:lnSpc>
                <a:spcPts val="7680"/>
              </a:lnSpc>
            </a:pPr>
            <a:r>
              <a:rPr lang="en-US" sz="8000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POR ESCUCHAR Y SU ATENCIÓN </a:t>
            </a:r>
          </a:p>
          <a:p>
            <a:pPr algn="l">
              <a:lnSpc>
                <a:spcPts val="7680"/>
              </a:lnSpc>
            </a:pP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5919715" y="7031840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6" y="0"/>
                </a:lnTo>
                <a:lnTo>
                  <a:pt x="1115036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DAHDgx6vgyM</dc:identifier>
  <dcterms:modified xsi:type="dcterms:W3CDTF">2011-08-01T06:04:30Z</dcterms:modified>
  <cp:revision>1</cp:revision>
  <dc:title>Grey Yellow Modern Software Development Presentation</dc:title>
</cp:coreProperties>
</file>